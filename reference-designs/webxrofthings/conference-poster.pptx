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2"/>
    <p:restoredTop sz="94729"/>
  </p:normalViewPr>
  <p:slideViewPr>
    <p:cSldViewPr snapToGrid="0" snapToObjects="1">
      <p:cViewPr>
        <p:scale>
          <a:sx n="54" d="100"/>
          <a:sy n="54" d="100"/>
        </p:scale>
        <p:origin x="144" y="-9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E2F1B0-4BCF-894F-ABD7-9D90A2E7E155}" type="datetimeFigureOut">
              <a:rPr lang="en-US" smtClean="0"/>
              <a:t>5/27/26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A1EE2C-380B-8649-BC7D-BE1BB9675CB0}" type="slidenum">
              <a:rPr lang="en-US" smtClean="0"/>
              <a:t>‹#›</a:t>
            </a:fld>
            <a:endParaRPr lang="en-US"/>
          </a:p>
        </p:txBody>
      </p:sp>
    </p:spTree>
    <p:extLst>
      <p:ext uri="{BB962C8B-B14F-4D97-AF65-F5344CB8AC3E}">
        <p14:creationId xmlns:p14="http://schemas.microsoft.com/office/powerpoint/2010/main" val="3941593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A1EE2C-380B-8649-BC7D-BE1BB9675CB0}" type="slidenum">
              <a:rPr lang="en-US" smtClean="0"/>
              <a:t>1</a:t>
            </a:fld>
            <a:endParaRPr lang="en-US"/>
          </a:p>
        </p:txBody>
      </p:sp>
    </p:spTree>
    <p:extLst>
      <p:ext uri="{BB962C8B-B14F-4D97-AF65-F5344CB8AC3E}">
        <p14:creationId xmlns:p14="http://schemas.microsoft.com/office/powerpoint/2010/main" val="1706837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30276000" cy="3420000"/>
          </a:xfrm>
          <a:prstGeom prst="rect">
            <a:avLst/>
          </a:prstGeom>
          <a:solidFill>
            <a:srgbClr val="2541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939855"/>
            <a:ext cx="30276000" cy="1684289"/>
          </a:xfrm>
          <a:prstGeom prst="rect">
            <a:avLst/>
          </a:prstGeom>
          <a:noFill/>
        </p:spPr>
        <p:txBody>
          <a:bodyPr wrap="square" lIns="144000" tIns="72000" rIns="144000" bIns="72000" anchor="ctr">
            <a:spAutoFit/>
          </a:bodyPr>
          <a:lstStyle/>
          <a:p>
            <a:pPr algn="ctr"/>
            <a:r>
              <a:rPr lang="en-US" sz="10000" b="1" i="0" dirty="0">
                <a:solidFill>
                  <a:srgbClr val="FFFFFF"/>
                </a:solidFill>
                <a:latin typeface="Calibri"/>
              </a:rPr>
              <a:t>The </a:t>
            </a:r>
            <a:r>
              <a:rPr lang="en-US" sz="10000" b="1" i="0" dirty="0" err="1">
                <a:solidFill>
                  <a:srgbClr val="FFFFFF"/>
                </a:solidFill>
                <a:latin typeface="Calibri"/>
              </a:rPr>
              <a:t>WebXR</a:t>
            </a:r>
            <a:r>
              <a:rPr lang="en-US" sz="10000" b="1" i="0" dirty="0">
                <a:solidFill>
                  <a:srgbClr val="FFFFFF"/>
                </a:solidFill>
                <a:latin typeface="Calibri"/>
              </a:rPr>
              <a:t> Of Things</a:t>
            </a:r>
            <a:endParaRPr sz="10000" b="1" i="0" dirty="0">
              <a:solidFill>
                <a:srgbClr val="FFFFFF"/>
              </a:solidFill>
              <a:latin typeface="Calibri"/>
            </a:endParaRPr>
          </a:p>
        </p:txBody>
      </p:sp>
      <p:sp>
        <p:nvSpPr>
          <p:cNvPr id="4" name="Rectangle 3"/>
          <p:cNvSpPr/>
          <p:nvPr/>
        </p:nvSpPr>
        <p:spPr>
          <a:xfrm>
            <a:off x="0" y="3420000"/>
            <a:ext cx="30276000" cy="1800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3564000"/>
            <a:ext cx="30276000" cy="760959"/>
          </a:xfrm>
          <a:prstGeom prst="rect">
            <a:avLst/>
          </a:prstGeom>
          <a:noFill/>
        </p:spPr>
        <p:txBody>
          <a:bodyPr wrap="square" lIns="144000" tIns="72000" rIns="144000" bIns="72000" anchor="t">
            <a:spAutoFit/>
          </a:bodyPr>
          <a:lstStyle/>
          <a:p>
            <a:pPr algn="ctr"/>
            <a:r>
              <a:rPr lang="en-US" sz="4000" b="0" i="0" dirty="0">
                <a:solidFill>
                  <a:srgbClr val="FFFFFF"/>
                </a:solidFill>
                <a:latin typeface="Calibri"/>
              </a:rPr>
              <a:t>David J. Kordsmeier</a:t>
            </a:r>
            <a:r>
              <a:rPr sz="4000" b="0" i="0" dirty="0">
                <a:solidFill>
                  <a:srgbClr val="FFFFFF"/>
                </a:solidFill>
                <a:latin typeface="Calibri"/>
              </a:rPr>
              <a:t>¹</a:t>
            </a:r>
          </a:p>
        </p:txBody>
      </p:sp>
      <p:sp>
        <p:nvSpPr>
          <p:cNvPr id="6" name="TextBox 5"/>
          <p:cNvSpPr txBox="1"/>
          <p:nvPr/>
        </p:nvSpPr>
        <p:spPr>
          <a:xfrm>
            <a:off x="0" y="4428000"/>
            <a:ext cx="30276000" cy="483960"/>
          </a:xfrm>
          <a:prstGeom prst="rect">
            <a:avLst/>
          </a:prstGeom>
          <a:noFill/>
        </p:spPr>
        <p:txBody>
          <a:bodyPr wrap="square" lIns="144000" tIns="72000" rIns="144000" bIns="72000" anchor="t">
            <a:spAutoFit/>
          </a:bodyPr>
          <a:lstStyle/>
          <a:p>
            <a:pPr algn="ctr"/>
            <a:r>
              <a:rPr sz="2200" b="0" i="0" dirty="0">
                <a:solidFill>
                  <a:srgbClr val="FFFFFF"/>
                </a:solidFill>
                <a:latin typeface="Calibri"/>
              </a:rPr>
              <a:t>¹</a:t>
            </a:r>
            <a:r>
              <a:rPr lang="ja-JP" altLang="en-US" sz="1600">
                <a:solidFill>
                  <a:schemeClr val="bg1"/>
                </a:solidFill>
                <a:effectLst/>
                <a:latin typeface="Hiragino Sans" panose="020B0400000000000000" pitchFamily="34" charset="-128"/>
                <a:ea typeface="Hiragino Sans" panose="020B0400000000000000" pitchFamily="34" charset="-128"/>
              </a:rPr>
              <a:t>株式会社</a:t>
            </a:r>
            <a:r>
              <a:rPr lang="en-US" sz="1600" dirty="0" err="1">
                <a:solidFill>
                  <a:schemeClr val="bg1"/>
                </a:solidFill>
                <a:effectLst/>
                <a:latin typeface="Helvetica Neue" panose="02000503000000020004" pitchFamily="2" charset="0"/>
              </a:rPr>
              <a:t>IoTone</a:t>
            </a:r>
            <a:r>
              <a:rPr lang="en-US" sz="1600" dirty="0">
                <a:solidFill>
                  <a:schemeClr val="bg1"/>
                </a:solidFill>
                <a:effectLst/>
                <a:latin typeface="Helvetica Neue" panose="02000503000000020004" pitchFamily="2" charset="0"/>
              </a:rPr>
              <a:t> Japan </a:t>
            </a:r>
            <a:r>
              <a:rPr lang="en-US" sz="1600" dirty="0">
                <a:solidFill>
                  <a:schemeClr val="bg1"/>
                </a:solidFill>
                <a:effectLst/>
                <a:latin typeface="Hiragino Sans" panose="020B0400000000000000" pitchFamily="34" charset="-128"/>
                <a:ea typeface="Hiragino Sans" panose="020B0400000000000000" pitchFamily="34" charset="-128"/>
              </a:rPr>
              <a:t>〒</a:t>
            </a:r>
            <a:r>
              <a:rPr lang="en-US" sz="1600" dirty="0">
                <a:solidFill>
                  <a:schemeClr val="bg1"/>
                </a:solidFill>
                <a:effectLst/>
                <a:latin typeface="Helvetica Neue" panose="02000503000000020004" pitchFamily="2" charset="0"/>
              </a:rPr>
              <a:t>810-0001 </a:t>
            </a:r>
            <a:r>
              <a:rPr lang="ja-JP" altLang="en-US" sz="1600">
                <a:solidFill>
                  <a:schemeClr val="bg1"/>
                </a:solidFill>
                <a:effectLst/>
                <a:latin typeface="Hiragino Sans" panose="020B0400000000000000" pitchFamily="34" charset="-128"/>
                <a:ea typeface="Hiragino Sans" panose="020B0400000000000000" pitchFamily="34" charset="-128"/>
              </a:rPr>
              <a:t>福岡市中央区天神一丁目</a:t>
            </a:r>
            <a:r>
              <a:rPr lang="en-US" altLang="ja-JP" sz="1600" dirty="0">
                <a:solidFill>
                  <a:schemeClr val="bg1"/>
                </a:solidFill>
                <a:effectLst/>
                <a:latin typeface="Helvetica Neue" panose="02000503000000020004" pitchFamily="2" charset="0"/>
              </a:rPr>
              <a:t>11</a:t>
            </a:r>
            <a:r>
              <a:rPr lang="ja-JP" altLang="en-US" sz="1600">
                <a:solidFill>
                  <a:schemeClr val="bg1"/>
                </a:solidFill>
                <a:effectLst/>
                <a:latin typeface="Hiragino Sans" panose="020B0400000000000000" pitchFamily="34" charset="-128"/>
                <a:ea typeface="Hiragino Sans" panose="020B0400000000000000" pitchFamily="34" charset="-128"/>
              </a:rPr>
              <a:t>番</a:t>
            </a:r>
            <a:r>
              <a:rPr lang="en-US" altLang="ja-JP" sz="1600" dirty="0">
                <a:solidFill>
                  <a:schemeClr val="bg1"/>
                </a:solidFill>
                <a:effectLst/>
                <a:latin typeface="Helvetica Neue" panose="02000503000000020004" pitchFamily="2" charset="0"/>
              </a:rPr>
              <a:t>1</a:t>
            </a:r>
            <a:r>
              <a:rPr lang="ja-JP" altLang="en-US" sz="1600">
                <a:solidFill>
                  <a:schemeClr val="bg1"/>
                </a:solidFill>
                <a:effectLst/>
                <a:latin typeface="Hiragino Sans" panose="020B0400000000000000" pitchFamily="34" charset="-128"/>
                <a:ea typeface="Hiragino Sans" panose="020B0400000000000000" pitchFamily="34" charset="-128"/>
              </a:rPr>
              <a:t>号</a:t>
            </a:r>
            <a:r>
              <a:rPr lang="ja-JP" altLang="en-US" sz="1600">
                <a:solidFill>
                  <a:schemeClr val="bg1"/>
                </a:solidFill>
                <a:effectLst/>
                <a:latin typeface="Helvetica Neue" panose="02000503000000020004" pitchFamily="2" charset="0"/>
              </a:rPr>
              <a:t> </a:t>
            </a:r>
            <a:r>
              <a:rPr lang="en-US" sz="1600" dirty="0">
                <a:solidFill>
                  <a:schemeClr val="bg1"/>
                </a:solidFill>
                <a:effectLst/>
                <a:latin typeface="Helvetica Neue" panose="02000503000000020004" pitchFamily="2" charset="0"/>
              </a:rPr>
              <a:t>ONE FUKUOKA BLDG. 7F </a:t>
            </a:r>
            <a:r>
              <a:rPr lang="en-US" sz="2200" b="0" i="0" dirty="0">
                <a:solidFill>
                  <a:srgbClr val="FFFFFF"/>
                </a:solidFill>
                <a:latin typeface="Calibri"/>
              </a:rPr>
              <a:t>· </a:t>
            </a:r>
            <a:r>
              <a:rPr lang="en-US" sz="1600" b="0" i="0" dirty="0" err="1">
                <a:solidFill>
                  <a:srgbClr val="FFFFFF"/>
                </a:solidFill>
                <a:latin typeface="Calibri"/>
              </a:rPr>
              <a:t>djk@iotone.co.jp</a:t>
            </a:r>
            <a:endParaRPr lang="en-US" sz="1600" b="0" i="0" dirty="0">
              <a:solidFill>
                <a:srgbClr val="FFFFFF"/>
              </a:solidFill>
              <a:latin typeface="Calibri"/>
            </a:endParaRPr>
          </a:p>
        </p:txBody>
      </p:sp>
      <p:sp>
        <p:nvSpPr>
          <p:cNvPr id="7" name="Rectangle 6"/>
          <p:cNvSpPr/>
          <p:nvPr/>
        </p:nvSpPr>
        <p:spPr>
          <a:xfrm>
            <a:off x="450000" y="5868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0000" y="5868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Introduction</a:t>
            </a:r>
          </a:p>
        </p:txBody>
      </p:sp>
      <p:sp>
        <p:nvSpPr>
          <p:cNvPr id="9" name="Rectangle 8"/>
          <p:cNvSpPr/>
          <p:nvPr/>
        </p:nvSpPr>
        <p:spPr>
          <a:xfrm>
            <a:off x="450000" y="7164000"/>
            <a:ext cx="9360000" cy="1296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0000" y="7236000"/>
            <a:ext cx="9360000" cy="5819643"/>
          </a:xfrm>
          <a:prstGeom prst="rect">
            <a:avLst/>
          </a:prstGeom>
          <a:noFill/>
        </p:spPr>
        <p:txBody>
          <a:bodyPr wrap="square" lIns="144000" tIns="108000" rIns="144000" bIns="108000" anchor="t">
            <a:spAutoFit/>
          </a:bodyPr>
          <a:lstStyle/>
          <a:p>
            <a:pPr marL="228600" indent="-228600" algn="l">
              <a:buChar char="•"/>
            </a:pPr>
            <a:r>
              <a:rPr lang="en-US" sz="2800" dirty="0">
                <a:solidFill>
                  <a:srgbClr val="1F2A44"/>
                </a:solidFill>
                <a:latin typeface="Calibri"/>
              </a:rPr>
              <a:t>The </a:t>
            </a:r>
            <a:r>
              <a:rPr lang="en-US" sz="2800" dirty="0" err="1">
                <a:solidFill>
                  <a:srgbClr val="1F2A44"/>
                </a:solidFill>
                <a:latin typeface="Calibri"/>
              </a:rPr>
              <a:t>WebXR</a:t>
            </a:r>
            <a:r>
              <a:rPr lang="en-US" sz="2800" dirty="0">
                <a:solidFill>
                  <a:srgbClr val="1F2A44"/>
                </a:solidFill>
                <a:latin typeface="Calibri"/>
              </a:rPr>
              <a:t> Of Things introduces the idea that </a:t>
            </a:r>
            <a:r>
              <a:rPr lang="en-US" sz="2800" dirty="0" err="1">
                <a:solidFill>
                  <a:srgbClr val="1F2A44"/>
                </a:solidFill>
                <a:latin typeface="Calibri"/>
              </a:rPr>
              <a:t>WebXR</a:t>
            </a:r>
            <a:r>
              <a:rPr lang="en-US" sz="2800" dirty="0">
                <a:solidFill>
                  <a:srgbClr val="1F2A44"/>
                </a:solidFill>
                <a:latin typeface="Calibri"/>
              </a:rPr>
              <a:t> can be the default interface to data, people, places, or services</a:t>
            </a:r>
            <a:endParaRPr sz="2800" dirty="0">
              <a:solidFill>
                <a:srgbClr val="1F2A44"/>
              </a:solidFill>
              <a:latin typeface="Calibri"/>
            </a:endParaRPr>
          </a:p>
          <a:p>
            <a:pPr marL="228600" indent="-228600" algn="l">
              <a:buChar char="•"/>
            </a:pPr>
            <a:r>
              <a:rPr lang="en-US" sz="2800" dirty="0">
                <a:solidFill>
                  <a:srgbClr val="1F2A44"/>
                </a:solidFill>
                <a:latin typeface="Calibri"/>
              </a:rPr>
              <a:t>We explore a hyperlocal approach to looking at the world in our immediate vicinity through a generated XR experience</a:t>
            </a:r>
            <a:endParaRPr sz="2800" dirty="0">
              <a:solidFill>
                <a:srgbClr val="1F2A44"/>
              </a:solidFill>
              <a:latin typeface="Calibri"/>
            </a:endParaRPr>
          </a:p>
          <a:p>
            <a:pPr marL="228600" indent="-228600" algn="l">
              <a:buChar char="•"/>
            </a:pPr>
            <a:r>
              <a:rPr lang="en-US" sz="2800" dirty="0">
                <a:solidFill>
                  <a:srgbClr val="1F2A44"/>
                </a:solidFill>
                <a:latin typeface="Calibri"/>
              </a:rPr>
              <a:t>Like ”The Internet of Things” before it, data and services are locked up in silos.</a:t>
            </a:r>
          </a:p>
          <a:p>
            <a:pPr marL="228600" indent="-228600">
              <a:buFontTx/>
              <a:buChar char="•"/>
            </a:pPr>
            <a:r>
              <a:rPr lang="en-US" sz="2800">
                <a:solidFill>
                  <a:srgbClr val="1F2A44"/>
                </a:solidFill>
                <a:latin typeface="Calibri"/>
              </a:rPr>
              <a:t>URLs are too long to remember, too complicated to type in XR, AR tags don’t work in XR, and so begins the woeful journey of the XR user</a:t>
            </a:r>
            <a:endParaRPr lang="en-US" sz="2800" dirty="0">
              <a:solidFill>
                <a:srgbClr val="1F2A44"/>
              </a:solidFill>
              <a:latin typeface="Calibri"/>
            </a:endParaRPr>
          </a:p>
          <a:p>
            <a:pPr marL="228600" indent="-228600" algn="l">
              <a:buChar char="•"/>
            </a:pPr>
            <a:r>
              <a:rPr lang="en-US" sz="2800" dirty="0">
                <a:solidFill>
                  <a:srgbClr val="1F2A44"/>
                </a:solidFill>
                <a:latin typeface="Calibri"/>
              </a:rPr>
              <a:t>The user journey to get into a </a:t>
            </a:r>
            <a:r>
              <a:rPr lang="en-US" sz="2800" dirty="0" err="1">
                <a:solidFill>
                  <a:srgbClr val="1F2A44"/>
                </a:solidFill>
                <a:latin typeface="Calibri"/>
              </a:rPr>
              <a:t>WebXR</a:t>
            </a:r>
            <a:r>
              <a:rPr lang="en-US" sz="2800" dirty="0">
                <a:solidFill>
                  <a:srgbClr val="1F2A44"/>
                </a:solidFill>
                <a:latin typeface="Calibri"/>
              </a:rPr>
              <a:t> experience is a challenge of its own, and we explore an open source approach, privacy friendly and distributed, to easing the entry and exit of XR experience</a:t>
            </a:r>
          </a:p>
        </p:txBody>
      </p:sp>
      <p:sp>
        <p:nvSpPr>
          <p:cNvPr id="11" name="Rectangle 10"/>
          <p:cNvSpPr/>
          <p:nvPr/>
        </p:nvSpPr>
        <p:spPr>
          <a:xfrm>
            <a:off x="450000" y="20700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0" y="20700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Objectives</a:t>
            </a:r>
          </a:p>
        </p:txBody>
      </p:sp>
      <p:sp>
        <p:nvSpPr>
          <p:cNvPr id="13" name="Rectangle 12"/>
          <p:cNvSpPr/>
          <p:nvPr/>
        </p:nvSpPr>
        <p:spPr>
          <a:xfrm>
            <a:off x="450000" y="21996000"/>
            <a:ext cx="9360000" cy="900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0000" y="22068000"/>
            <a:ext cx="9360000" cy="5388756"/>
          </a:xfrm>
          <a:prstGeom prst="rect">
            <a:avLst/>
          </a:prstGeom>
          <a:noFill/>
        </p:spPr>
        <p:txBody>
          <a:bodyPr wrap="square" lIns="144000" tIns="108000" rIns="144000" bIns="108000" anchor="t">
            <a:spAutoFit/>
          </a:bodyPr>
          <a:lstStyle/>
          <a:p>
            <a:pPr marL="228600" indent="-228600" algn="l">
              <a:buChar char="•"/>
            </a:pPr>
            <a:r>
              <a:rPr lang="en-US" sz="2800" dirty="0" err="1">
                <a:solidFill>
                  <a:srgbClr val="1F2A44"/>
                </a:solidFill>
                <a:latin typeface="Calibri"/>
              </a:rPr>
              <a:t>WebXR</a:t>
            </a:r>
            <a:r>
              <a:rPr lang="en-US" sz="2800" dirty="0">
                <a:solidFill>
                  <a:srgbClr val="1F2A44"/>
                </a:solidFill>
                <a:latin typeface="Calibri"/>
              </a:rPr>
              <a:t> should be the default experience to devices, places, things</a:t>
            </a:r>
            <a:endParaRPr sz="2800" dirty="0">
              <a:solidFill>
                <a:srgbClr val="1F2A44"/>
              </a:solidFill>
              <a:latin typeface="Calibri"/>
            </a:endParaRPr>
          </a:p>
          <a:p>
            <a:pPr marL="228600" indent="-228600" algn="l">
              <a:buChar char="•"/>
            </a:pPr>
            <a:r>
              <a:rPr lang="en-US" sz="2800" dirty="0">
                <a:solidFill>
                  <a:srgbClr val="1F2A44"/>
                </a:solidFill>
                <a:latin typeface="Calibri"/>
              </a:rPr>
              <a:t>Establish the concept of a dataspace, a hyperlocal location encapsulated in a known ”</a:t>
            </a:r>
            <a:r>
              <a:rPr lang="en-US" sz="2800" dirty="0" err="1">
                <a:solidFill>
                  <a:srgbClr val="1F2A44"/>
                </a:solidFill>
                <a:latin typeface="Calibri"/>
              </a:rPr>
              <a:t>joincode</a:t>
            </a:r>
            <a:r>
              <a:rPr lang="en-US" sz="2800" dirty="0">
                <a:solidFill>
                  <a:srgbClr val="1F2A44"/>
                </a:solidFill>
                <a:latin typeface="Calibri"/>
              </a:rPr>
              <a:t>” to enter a particular XR experience</a:t>
            </a:r>
          </a:p>
          <a:p>
            <a:pPr marL="228600" indent="-228600" algn="l">
              <a:buChar char="•"/>
            </a:pPr>
            <a:r>
              <a:rPr lang="en-US" sz="2800" dirty="0">
                <a:solidFill>
                  <a:srgbClr val="1F2A44"/>
                </a:solidFill>
                <a:latin typeface="Calibri"/>
              </a:rPr>
              <a:t>Design a mechanism to generate a UX from a schema, based on device and service definitions</a:t>
            </a:r>
            <a:endParaRPr sz="2800" dirty="0">
              <a:solidFill>
                <a:srgbClr val="1F2A44"/>
              </a:solidFill>
              <a:latin typeface="Calibri"/>
            </a:endParaRPr>
          </a:p>
          <a:p>
            <a:pPr marL="228600" indent="-228600" algn="l">
              <a:buChar char="•"/>
            </a:pPr>
            <a:r>
              <a:rPr lang="en-US" sz="2800" dirty="0">
                <a:solidFill>
                  <a:srgbClr val="1F2A44"/>
                </a:solidFill>
                <a:latin typeface="Calibri"/>
              </a:rPr>
              <a:t>Provide a reference implementation for the design, prototyped on two existing XR capable platforms</a:t>
            </a:r>
          </a:p>
          <a:p>
            <a:pPr marL="228600" indent="-228600" algn="l">
              <a:buChar char="•"/>
            </a:pPr>
            <a:r>
              <a:rPr lang="en-US" sz="2800" dirty="0">
                <a:solidFill>
                  <a:srgbClr val="1F2A44"/>
                </a:solidFill>
                <a:latin typeface="Calibri"/>
              </a:rPr>
              <a:t>Call out the need for more unification to solve </a:t>
            </a:r>
            <a:r>
              <a:rPr lang="en-US" sz="2800" dirty="0" err="1">
                <a:solidFill>
                  <a:srgbClr val="1F2A44"/>
                </a:solidFill>
                <a:latin typeface="Calibri"/>
              </a:rPr>
              <a:t>WebXR</a:t>
            </a:r>
            <a:r>
              <a:rPr lang="en-US" sz="2800" dirty="0">
                <a:solidFill>
                  <a:srgbClr val="1F2A44"/>
                </a:solidFill>
                <a:latin typeface="Calibri"/>
              </a:rPr>
              <a:t> browser issues to get feature parity with native XR experiences</a:t>
            </a:r>
            <a:endParaRPr sz="2800" dirty="0">
              <a:solidFill>
                <a:srgbClr val="1F2A44"/>
              </a:solidFill>
              <a:latin typeface="Calibri"/>
            </a:endParaRPr>
          </a:p>
        </p:txBody>
      </p:sp>
      <p:sp>
        <p:nvSpPr>
          <p:cNvPr id="15" name="Rectangle 14"/>
          <p:cNvSpPr/>
          <p:nvPr/>
        </p:nvSpPr>
        <p:spPr>
          <a:xfrm>
            <a:off x="10458000" y="5868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458000" y="5868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Methods</a:t>
            </a:r>
          </a:p>
        </p:txBody>
      </p:sp>
      <p:sp>
        <p:nvSpPr>
          <p:cNvPr id="17" name="Rectangle 16"/>
          <p:cNvSpPr/>
          <p:nvPr/>
        </p:nvSpPr>
        <p:spPr>
          <a:xfrm>
            <a:off x="10458000" y="7164000"/>
            <a:ext cx="9360000" cy="288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18" name="TextBox 17"/>
          <p:cNvSpPr txBox="1"/>
          <p:nvPr/>
        </p:nvSpPr>
        <p:spPr>
          <a:xfrm>
            <a:off x="10458000" y="7236000"/>
            <a:ext cx="9360000" cy="2803433"/>
          </a:xfrm>
          <a:prstGeom prst="rect">
            <a:avLst/>
          </a:prstGeom>
          <a:noFill/>
        </p:spPr>
        <p:txBody>
          <a:bodyPr wrap="square" lIns="144000" tIns="108000" rIns="144000" bIns="108000" anchor="t">
            <a:spAutoFit/>
          </a:bodyPr>
          <a:lstStyle/>
          <a:p>
            <a:pPr marL="228600" indent="-228600" algn="l">
              <a:buChar char="•"/>
            </a:pPr>
            <a:r>
              <a:rPr lang="en-US" sz="2800" dirty="0">
                <a:solidFill>
                  <a:srgbClr val="1F2A44"/>
                </a:solidFill>
                <a:latin typeface="Calibri"/>
              </a:rPr>
              <a:t>PoC as a tool to explore the “dataspace”+”</a:t>
            </a:r>
            <a:r>
              <a:rPr lang="en-US" sz="2800" dirty="0" err="1">
                <a:solidFill>
                  <a:srgbClr val="1F2A44"/>
                </a:solidFill>
                <a:latin typeface="Calibri"/>
              </a:rPr>
              <a:t>joincode</a:t>
            </a:r>
            <a:r>
              <a:rPr lang="en-US" sz="2800" dirty="0">
                <a:solidFill>
                  <a:srgbClr val="1F2A44"/>
                </a:solidFill>
                <a:latin typeface="Calibri"/>
              </a:rPr>
              <a:t>” concept</a:t>
            </a:r>
          </a:p>
          <a:p>
            <a:pPr marL="228600" indent="-228600" algn="l">
              <a:buChar char="•"/>
            </a:pPr>
            <a:r>
              <a:rPr lang="en-US" sz="2800" dirty="0">
                <a:solidFill>
                  <a:srgbClr val="1F2A44"/>
                </a:solidFill>
                <a:latin typeface="Calibri"/>
              </a:rPr>
              <a:t>Devices: Meta Quest 3s, </a:t>
            </a:r>
            <a:r>
              <a:rPr lang="en-US" sz="2800" dirty="0" err="1">
                <a:solidFill>
                  <a:srgbClr val="1F2A44"/>
                </a:solidFill>
                <a:latin typeface="Calibri"/>
              </a:rPr>
              <a:t>Snaap</a:t>
            </a:r>
            <a:r>
              <a:rPr lang="en-US" sz="2800" dirty="0">
                <a:solidFill>
                  <a:srgbClr val="1F2A44"/>
                </a:solidFill>
                <a:latin typeface="Calibri"/>
              </a:rPr>
              <a:t> Spectacles ‘24 + a collection of IoT gadgets (various ESP32s) found in each Use Case</a:t>
            </a:r>
          </a:p>
          <a:p>
            <a:pPr marL="228600" indent="-228600" algn="l">
              <a:buChar char="•"/>
            </a:pPr>
            <a:r>
              <a:rPr lang="en-US" sz="2800" dirty="0">
                <a:solidFill>
                  <a:srgbClr val="1F2A44"/>
                </a:solidFill>
                <a:latin typeface="Calibri"/>
              </a:rPr>
              <a:t>A </a:t>
            </a:r>
            <a:r>
              <a:rPr lang="en-US" sz="2800" dirty="0" err="1">
                <a:solidFill>
                  <a:srgbClr val="1F2A44"/>
                </a:solidFill>
                <a:latin typeface="Calibri"/>
              </a:rPr>
              <a:t>joincode</a:t>
            </a:r>
            <a:r>
              <a:rPr lang="en-US" sz="2800" dirty="0">
                <a:solidFill>
                  <a:srgbClr val="1F2A44"/>
                </a:solidFill>
                <a:latin typeface="Calibri"/>
              </a:rPr>
              <a:t> server manages access to dataspaces</a:t>
            </a:r>
          </a:p>
          <a:p>
            <a:pPr marL="228600" indent="-228600" algn="l">
              <a:buChar char="•"/>
            </a:pPr>
            <a:r>
              <a:rPr lang="en-US" sz="2800" dirty="0">
                <a:solidFill>
                  <a:srgbClr val="1F2A44"/>
                </a:solidFill>
                <a:latin typeface="Calibri"/>
              </a:rPr>
              <a:t>A JSON schema defines the UX, not an app, and every device and service is represented by a metadata specification</a:t>
            </a:r>
          </a:p>
        </p:txBody>
      </p:sp>
      <p:sp>
        <p:nvSpPr>
          <p:cNvPr id="19" name="Rectangle 18"/>
          <p:cNvSpPr/>
          <p:nvPr/>
        </p:nvSpPr>
        <p:spPr>
          <a:xfrm>
            <a:off x="10458000" y="10260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58000" y="10435187"/>
            <a:ext cx="9360000" cy="945625"/>
          </a:xfrm>
          <a:prstGeom prst="rect">
            <a:avLst/>
          </a:prstGeom>
          <a:noFill/>
        </p:spPr>
        <p:txBody>
          <a:bodyPr wrap="square" lIns="144000" tIns="72000" rIns="144000" bIns="72000" anchor="ctr">
            <a:spAutoFit/>
          </a:bodyPr>
          <a:lstStyle/>
          <a:p>
            <a:pPr algn="ctr"/>
            <a:r>
              <a:rPr sz="5200" b="1" i="0" dirty="0">
                <a:solidFill>
                  <a:srgbClr val="FFFFFF"/>
                </a:solidFill>
                <a:latin typeface="Calibri"/>
              </a:rPr>
              <a:t>Figure 1</a:t>
            </a:r>
            <a:r>
              <a:rPr lang="en-US" sz="5200" b="1" dirty="0">
                <a:solidFill>
                  <a:srgbClr val="FFFFFF"/>
                </a:solidFill>
                <a:latin typeface="Calibri"/>
              </a:rPr>
              <a:t>-UC1: Human Vitals</a:t>
            </a:r>
            <a:endParaRPr sz="5200" b="1" i="0" dirty="0">
              <a:solidFill>
                <a:srgbClr val="FFFFFF"/>
              </a:solidFill>
              <a:latin typeface="Calibri"/>
            </a:endParaRPr>
          </a:p>
        </p:txBody>
      </p:sp>
      <p:sp>
        <p:nvSpPr>
          <p:cNvPr id="21" name="Rectangle 20"/>
          <p:cNvSpPr/>
          <p:nvPr/>
        </p:nvSpPr>
        <p:spPr>
          <a:xfrm>
            <a:off x="10458000" y="11556000"/>
            <a:ext cx="9360000" cy="6439188"/>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818000" y="11772000"/>
            <a:ext cx="8640000" cy="5561117"/>
          </a:xfrm>
          <a:prstGeom prst="rect">
            <a:avLst/>
          </a:prstGeom>
          <a:solidFill>
            <a:srgbClr val="C2CFDE"/>
          </a:solidFill>
          <a:ln w="9525">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818000" y="11772000"/>
            <a:ext cx="8640000" cy="6840000"/>
          </a:xfrm>
          <a:prstGeom prst="rect">
            <a:avLst/>
          </a:prstGeom>
          <a:noFill/>
        </p:spPr>
        <p:txBody>
          <a:bodyPr wrap="square" lIns="144000" tIns="72000" rIns="144000" bIns="72000" anchor="ctr">
            <a:spAutoFit/>
          </a:bodyPr>
          <a:lstStyle/>
          <a:p>
            <a:pPr algn="ctr"/>
            <a:r>
              <a:rPr sz="4800" b="1" i="0" dirty="0">
                <a:solidFill>
                  <a:srgbClr val="25416A"/>
                </a:solidFill>
                <a:latin typeface="Calibri"/>
              </a:rPr>
              <a:t>Figure 1</a:t>
            </a:r>
          </a:p>
        </p:txBody>
      </p:sp>
      <p:sp>
        <p:nvSpPr>
          <p:cNvPr id="24" name="TextBox 23"/>
          <p:cNvSpPr txBox="1"/>
          <p:nvPr/>
        </p:nvSpPr>
        <p:spPr>
          <a:xfrm>
            <a:off x="10457606" y="17403701"/>
            <a:ext cx="9360000" cy="483960"/>
          </a:xfrm>
          <a:prstGeom prst="rect">
            <a:avLst/>
          </a:prstGeom>
          <a:noFill/>
        </p:spPr>
        <p:txBody>
          <a:bodyPr wrap="square" lIns="144000" tIns="72000" rIns="144000" bIns="72000" anchor="t">
            <a:spAutoFit/>
          </a:bodyPr>
          <a:lstStyle/>
          <a:p>
            <a:pPr algn="ctr"/>
            <a:r>
              <a:rPr sz="2200" b="0" i="1" dirty="0">
                <a:solidFill>
                  <a:srgbClr val="556688"/>
                </a:solidFill>
                <a:latin typeface="Calibri"/>
              </a:rPr>
              <a:t>Figure 1. </a:t>
            </a:r>
            <a:r>
              <a:rPr lang="en-US" sz="2200" b="0" i="1" dirty="0">
                <a:solidFill>
                  <a:srgbClr val="556688"/>
                </a:solidFill>
                <a:latin typeface="Calibri"/>
              </a:rPr>
              <a:t>HR, Breathing, and “human radar”</a:t>
            </a:r>
            <a:endParaRPr sz="2200" b="0" i="1" dirty="0">
              <a:solidFill>
                <a:srgbClr val="556688"/>
              </a:solidFill>
              <a:latin typeface="Calibri"/>
            </a:endParaRPr>
          </a:p>
        </p:txBody>
      </p:sp>
      <p:sp>
        <p:nvSpPr>
          <p:cNvPr id="25" name="Rectangle 24"/>
          <p:cNvSpPr/>
          <p:nvPr/>
        </p:nvSpPr>
        <p:spPr>
          <a:xfrm>
            <a:off x="10457606" y="18633600"/>
            <a:ext cx="9360000" cy="14256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457606" y="18664203"/>
            <a:ext cx="9360000" cy="945625"/>
          </a:xfrm>
          <a:prstGeom prst="rect">
            <a:avLst/>
          </a:prstGeom>
          <a:noFill/>
        </p:spPr>
        <p:txBody>
          <a:bodyPr wrap="square" lIns="144000" tIns="72000" rIns="144000" bIns="72000" anchor="ctr">
            <a:spAutoFit/>
          </a:bodyPr>
          <a:lstStyle/>
          <a:p>
            <a:pPr algn="ctr"/>
            <a:r>
              <a:rPr sz="5200" b="1" i="0" dirty="0">
                <a:solidFill>
                  <a:srgbClr val="FFFFFF"/>
                </a:solidFill>
                <a:latin typeface="Calibri"/>
              </a:rPr>
              <a:t>Figure 2</a:t>
            </a:r>
            <a:r>
              <a:rPr lang="en-US" sz="5200" b="1" i="0" dirty="0">
                <a:solidFill>
                  <a:srgbClr val="FFFFFF"/>
                </a:solidFill>
                <a:latin typeface="Calibri"/>
              </a:rPr>
              <a:t>-UC2: Connected Home</a:t>
            </a:r>
            <a:endParaRPr sz="5200" b="1" i="0" dirty="0">
              <a:solidFill>
                <a:srgbClr val="FFFFFF"/>
              </a:solidFill>
              <a:latin typeface="Calibri"/>
            </a:endParaRPr>
          </a:p>
        </p:txBody>
      </p:sp>
      <p:sp>
        <p:nvSpPr>
          <p:cNvPr id="27" name="Rectangle 26"/>
          <p:cNvSpPr/>
          <p:nvPr/>
        </p:nvSpPr>
        <p:spPr>
          <a:xfrm>
            <a:off x="10457606" y="19825827"/>
            <a:ext cx="9360000" cy="830729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0712897" y="20131200"/>
            <a:ext cx="8640000" cy="7218628"/>
          </a:xfrm>
          <a:prstGeom prst="rect">
            <a:avLst/>
          </a:prstGeom>
          <a:solidFill>
            <a:srgbClr val="C2CFDE"/>
          </a:solidFill>
          <a:ln w="9525">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457606" y="27468170"/>
            <a:ext cx="9360000" cy="483960"/>
          </a:xfrm>
          <a:prstGeom prst="rect">
            <a:avLst/>
          </a:prstGeom>
          <a:noFill/>
        </p:spPr>
        <p:txBody>
          <a:bodyPr wrap="square" lIns="144000" tIns="72000" rIns="144000" bIns="72000" anchor="t">
            <a:spAutoFit/>
          </a:bodyPr>
          <a:lstStyle/>
          <a:p>
            <a:pPr algn="ctr"/>
            <a:r>
              <a:rPr sz="2200" b="0" i="1" dirty="0">
                <a:solidFill>
                  <a:srgbClr val="556688"/>
                </a:solidFill>
                <a:latin typeface="Calibri"/>
              </a:rPr>
              <a:t>Figure 2. </a:t>
            </a:r>
            <a:r>
              <a:rPr lang="en-US" sz="2200" b="0" i="1" dirty="0">
                <a:solidFill>
                  <a:srgbClr val="556688"/>
                </a:solidFill>
                <a:latin typeface="Calibri"/>
              </a:rPr>
              <a:t>IoT Home, spatial lighting controls, door chimes, security cam, </a:t>
            </a:r>
            <a:r>
              <a:rPr lang="en-US" sz="2200" b="0" i="1" dirty="0" err="1">
                <a:solidFill>
                  <a:srgbClr val="556688"/>
                </a:solidFill>
                <a:latin typeface="Calibri"/>
              </a:rPr>
              <a:t>hvac</a:t>
            </a:r>
            <a:endParaRPr sz="2200" b="0" i="1" dirty="0">
              <a:solidFill>
                <a:srgbClr val="556688"/>
              </a:solidFill>
              <a:latin typeface="Calibri"/>
            </a:endParaRPr>
          </a:p>
        </p:txBody>
      </p:sp>
      <p:sp>
        <p:nvSpPr>
          <p:cNvPr id="31" name="Rectangle 30"/>
          <p:cNvSpPr/>
          <p:nvPr/>
        </p:nvSpPr>
        <p:spPr>
          <a:xfrm>
            <a:off x="10457606" y="28620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592236" y="28775748"/>
            <a:ext cx="9360000" cy="945625"/>
          </a:xfrm>
          <a:prstGeom prst="rect">
            <a:avLst/>
          </a:prstGeom>
          <a:noFill/>
        </p:spPr>
        <p:txBody>
          <a:bodyPr wrap="square" lIns="144000" tIns="72000" rIns="144000" bIns="72000" anchor="ctr">
            <a:spAutoFit/>
          </a:bodyPr>
          <a:lstStyle/>
          <a:p>
            <a:pPr algn="ctr"/>
            <a:r>
              <a:rPr sz="5200" b="1" i="0" dirty="0">
                <a:solidFill>
                  <a:srgbClr val="FFFFFF"/>
                </a:solidFill>
                <a:latin typeface="Calibri"/>
              </a:rPr>
              <a:t>Figure </a:t>
            </a:r>
            <a:r>
              <a:rPr lang="en-US" sz="5200" b="1" dirty="0">
                <a:solidFill>
                  <a:srgbClr val="FFFFFF"/>
                </a:solidFill>
                <a:latin typeface="Calibri"/>
              </a:rPr>
              <a:t>3-UC3: </a:t>
            </a:r>
            <a:r>
              <a:rPr lang="en-US" sz="5200" b="1" dirty="0" err="1">
                <a:solidFill>
                  <a:srgbClr val="FFFFFF"/>
                </a:solidFill>
                <a:latin typeface="Calibri"/>
              </a:rPr>
              <a:t>XRt</a:t>
            </a:r>
            <a:r>
              <a:rPr lang="en-US" sz="5200" b="1" dirty="0">
                <a:solidFill>
                  <a:srgbClr val="FFFFFF"/>
                </a:solidFill>
                <a:latin typeface="Calibri"/>
              </a:rPr>
              <a:t> Gallery</a:t>
            </a:r>
            <a:endParaRPr sz="5200" b="1" i="0" dirty="0">
              <a:solidFill>
                <a:srgbClr val="FFFFFF"/>
              </a:solidFill>
              <a:latin typeface="Calibri"/>
            </a:endParaRPr>
          </a:p>
        </p:txBody>
      </p:sp>
      <p:sp>
        <p:nvSpPr>
          <p:cNvPr id="33" name="Rectangle 32"/>
          <p:cNvSpPr/>
          <p:nvPr/>
        </p:nvSpPr>
        <p:spPr>
          <a:xfrm>
            <a:off x="10457606" y="29916000"/>
            <a:ext cx="9360000" cy="78552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10818000" y="30326985"/>
            <a:ext cx="8640000" cy="6910793"/>
          </a:xfrm>
          <a:prstGeom prst="rect">
            <a:avLst/>
          </a:prstGeom>
          <a:solidFill>
            <a:srgbClr val="C2CFDE"/>
          </a:solidFill>
          <a:ln w="9525">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817606" y="30132000"/>
            <a:ext cx="8640000" cy="6840000"/>
          </a:xfrm>
          <a:prstGeom prst="rect">
            <a:avLst/>
          </a:prstGeom>
          <a:noFill/>
        </p:spPr>
        <p:txBody>
          <a:bodyPr wrap="square" lIns="144000" tIns="72000" rIns="144000" bIns="72000" anchor="ctr">
            <a:spAutoFit/>
          </a:bodyPr>
          <a:lstStyle/>
          <a:p>
            <a:pPr algn="ctr"/>
            <a:r>
              <a:rPr sz="4800" b="1" i="0" dirty="0">
                <a:solidFill>
                  <a:srgbClr val="25416A"/>
                </a:solidFill>
                <a:latin typeface="Calibri"/>
              </a:rPr>
              <a:t>Figure 3</a:t>
            </a:r>
          </a:p>
        </p:txBody>
      </p:sp>
      <p:sp>
        <p:nvSpPr>
          <p:cNvPr id="37" name="Rectangle 36"/>
          <p:cNvSpPr/>
          <p:nvPr/>
        </p:nvSpPr>
        <p:spPr>
          <a:xfrm>
            <a:off x="20466000" y="5868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466000" y="5868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Results</a:t>
            </a:r>
          </a:p>
        </p:txBody>
      </p:sp>
      <p:sp>
        <p:nvSpPr>
          <p:cNvPr id="39" name="Rectangle 38"/>
          <p:cNvSpPr/>
          <p:nvPr/>
        </p:nvSpPr>
        <p:spPr>
          <a:xfrm>
            <a:off x="20465213" y="7141813"/>
            <a:ext cx="9360000" cy="8374188"/>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0610000" y="7332668"/>
            <a:ext cx="9360000" cy="8374188"/>
          </a:xfrm>
          <a:prstGeom prst="rect">
            <a:avLst/>
          </a:prstGeom>
          <a:noFill/>
        </p:spPr>
        <p:txBody>
          <a:bodyPr wrap="square" lIns="144000" tIns="108000" rIns="144000" bIns="108000" anchor="t">
            <a:spAutoFit/>
          </a:bodyPr>
          <a:lstStyle/>
          <a:p>
            <a:pPr marL="228600" indent="-228600" algn="l">
              <a:buChar char="•"/>
            </a:pPr>
            <a:r>
              <a:rPr lang="en-US" sz="2800" dirty="0">
                <a:solidFill>
                  <a:srgbClr val="1F2A44"/>
                </a:solidFill>
                <a:latin typeface="Calibri"/>
              </a:rPr>
              <a:t>It is possible to simplify the user journey of figuring out how to get into an XR experience by using a </a:t>
            </a:r>
            <a:r>
              <a:rPr lang="en-US" sz="2800" dirty="0" err="1">
                <a:solidFill>
                  <a:srgbClr val="1F2A44"/>
                </a:solidFill>
                <a:latin typeface="Calibri"/>
              </a:rPr>
              <a:t>joincode</a:t>
            </a:r>
            <a:endParaRPr lang="en-US" sz="2800" dirty="0">
              <a:solidFill>
                <a:srgbClr val="1F2A44"/>
              </a:solidFill>
              <a:latin typeface="Calibri"/>
            </a:endParaRPr>
          </a:p>
          <a:p>
            <a:pPr marL="228600" indent="-228600" algn="l">
              <a:buChar char="•"/>
            </a:pPr>
            <a:r>
              <a:rPr lang="en-US" sz="2800" dirty="0">
                <a:solidFill>
                  <a:srgbClr val="1F2A44"/>
                </a:solidFill>
                <a:latin typeface="Calibri"/>
              </a:rPr>
              <a:t>Dataspaces offer a unique environment outside of a silo ecosystem, and let you explore </a:t>
            </a:r>
            <a:r>
              <a:rPr lang="en-US" sz="2800" b="1" dirty="0">
                <a:solidFill>
                  <a:srgbClr val="1F2A44"/>
                </a:solidFill>
                <a:latin typeface="Calibri"/>
              </a:rPr>
              <a:t>people</a:t>
            </a:r>
            <a:r>
              <a:rPr lang="en-US" sz="2800" dirty="0">
                <a:solidFill>
                  <a:srgbClr val="1F2A44"/>
                </a:solidFill>
                <a:latin typeface="Calibri"/>
              </a:rPr>
              <a:t> (my data, my health, who is here), </a:t>
            </a:r>
            <a:r>
              <a:rPr lang="en-US" sz="2800" b="1" dirty="0">
                <a:solidFill>
                  <a:srgbClr val="1F2A44"/>
                </a:solidFill>
                <a:latin typeface="Calibri"/>
              </a:rPr>
              <a:t>places</a:t>
            </a:r>
            <a:r>
              <a:rPr lang="en-US" sz="2800" dirty="0">
                <a:solidFill>
                  <a:srgbClr val="1F2A44"/>
                </a:solidFill>
                <a:latin typeface="Calibri"/>
              </a:rPr>
              <a:t> (a museum, this room, outside my house), and </a:t>
            </a:r>
            <a:r>
              <a:rPr lang="en-US" sz="2800" b="1" dirty="0">
                <a:solidFill>
                  <a:srgbClr val="1F2A44"/>
                </a:solidFill>
                <a:latin typeface="Calibri"/>
              </a:rPr>
              <a:t>things</a:t>
            </a:r>
            <a:r>
              <a:rPr lang="en-US" sz="2800" dirty="0">
                <a:solidFill>
                  <a:srgbClr val="1F2A44"/>
                </a:solidFill>
                <a:latin typeface="Calibri"/>
              </a:rPr>
              <a:t> (airplane entertainment system, a movie, the status of the </a:t>
            </a:r>
            <a:r>
              <a:rPr lang="en-US" sz="2800" dirty="0" err="1">
                <a:solidFill>
                  <a:srgbClr val="1F2A44"/>
                </a:solidFill>
                <a:latin typeface="Calibri"/>
              </a:rPr>
              <a:t>hvac</a:t>
            </a:r>
            <a:r>
              <a:rPr lang="en-US" sz="2800" dirty="0">
                <a:solidFill>
                  <a:srgbClr val="1F2A44"/>
                </a:solidFill>
                <a:latin typeface="Calibri"/>
              </a:rPr>
              <a:t>), including </a:t>
            </a:r>
            <a:r>
              <a:rPr lang="en-US" sz="2800" b="1" dirty="0">
                <a:solidFill>
                  <a:srgbClr val="1F2A44"/>
                </a:solidFill>
                <a:latin typeface="Calibri"/>
              </a:rPr>
              <a:t>services</a:t>
            </a:r>
            <a:r>
              <a:rPr lang="en-US" sz="2800" dirty="0">
                <a:solidFill>
                  <a:srgbClr val="1F2A44"/>
                </a:solidFill>
                <a:latin typeface="Calibri"/>
              </a:rPr>
              <a:t> in each</a:t>
            </a:r>
          </a:p>
          <a:p>
            <a:pPr marL="228600" indent="-228600" algn="l">
              <a:buChar char="•"/>
            </a:pPr>
            <a:r>
              <a:rPr lang="en-US" sz="2800" dirty="0">
                <a:solidFill>
                  <a:srgbClr val="1F2A44"/>
                </a:solidFill>
                <a:latin typeface="Calibri"/>
              </a:rPr>
              <a:t>The </a:t>
            </a:r>
            <a:r>
              <a:rPr lang="en-US" sz="2800" dirty="0" err="1">
                <a:solidFill>
                  <a:srgbClr val="1F2A44"/>
                </a:solidFill>
                <a:latin typeface="Calibri"/>
              </a:rPr>
              <a:t>WebXR</a:t>
            </a:r>
            <a:r>
              <a:rPr lang="en-US" sz="2800" dirty="0">
                <a:solidFill>
                  <a:srgbClr val="1F2A44"/>
                </a:solidFill>
                <a:latin typeface="Calibri"/>
              </a:rPr>
              <a:t> UX can be generated from schemas written in JSON or YAML instead of requiring a native app</a:t>
            </a:r>
          </a:p>
          <a:p>
            <a:pPr marL="228600" indent="-228600" algn="l">
              <a:buChar char="•"/>
            </a:pPr>
            <a:r>
              <a:rPr lang="en-US" sz="2800" dirty="0" err="1">
                <a:solidFill>
                  <a:srgbClr val="1F2A44"/>
                </a:solidFill>
                <a:latin typeface="Calibri"/>
              </a:rPr>
              <a:t>WebXR</a:t>
            </a:r>
            <a:r>
              <a:rPr lang="en-US" sz="2800" dirty="0">
                <a:solidFill>
                  <a:srgbClr val="1F2A44"/>
                </a:solidFill>
                <a:latin typeface="Calibri"/>
              </a:rPr>
              <a:t> has a degraded browser experience, this must be addressed by the community, not by FANG companies</a:t>
            </a:r>
          </a:p>
          <a:p>
            <a:pPr marL="228600" indent="-228600" algn="l">
              <a:buChar char="•"/>
            </a:pPr>
            <a:r>
              <a:rPr lang="en-US" sz="2800" dirty="0">
                <a:solidFill>
                  <a:srgbClr val="1F2A44"/>
                </a:solidFill>
                <a:latin typeface="Calibri"/>
              </a:rPr>
              <a:t>Core Software OSS contributions: </a:t>
            </a:r>
            <a:r>
              <a:rPr lang="en-US" sz="2400" dirty="0">
                <a:solidFill>
                  <a:srgbClr val="1F2A44"/>
                </a:solidFill>
                <a:latin typeface="Calibri"/>
              </a:rPr>
              <a:t>dataspace PoC, </a:t>
            </a:r>
            <a:r>
              <a:rPr lang="en-US" sz="2400" dirty="0" err="1">
                <a:solidFill>
                  <a:srgbClr val="1F2A44"/>
                </a:solidFill>
                <a:latin typeface="Calibri"/>
              </a:rPr>
              <a:t>joincode</a:t>
            </a:r>
            <a:r>
              <a:rPr lang="en-US" sz="2400" dirty="0">
                <a:solidFill>
                  <a:srgbClr val="1F2A44"/>
                </a:solidFill>
                <a:latin typeface="Calibri"/>
              </a:rPr>
              <a:t> server, Universal Device Metadata, Universal Service Metadata, Spatial D3.js (for </a:t>
            </a:r>
            <a:r>
              <a:rPr lang="en-US" sz="2400" dirty="0" err="1">
                <a:solidFill>
                  <a:srgbClr val="1F2A44"/>
                </a:solidFill>
                <a:latin typeface="Calibri"/>
              </a:rPr>
              <a:t>ThreeJS</a:t>
            </a:r>
            <a:r>
              <a:rPr lang="en-US" sz="2400" dirty="0">
                <a:solidFill>
                  <a:srgbClr val="1F2A44"/>
                </a:solidFill>
                <a:latin typeface="Calibri"/>
              </a:rPr>
              <a:t>)</a:t>
            </a:r>
          </a:p>
          <a:p>
            <a:pPr marL="228600" indent="-228600" algn="l">
              <a:buChar char="•"/>
            </a:pPr>
            <a:r>
              <a:rPr lang="en-US" sz="2800" dirty="0">
                <a:solidFill>
                  <a:srgbClr val="1F2A44"/>
                </a:solidFill>
                <a:latin typeface="Calibri"/>
              </a:rPr>
              <a:t>ESP32 gadgets using ESPIDFORTH (a FORTH port to ESP-IDF)</a:t>
            </a:r>
          </a:p>
          <a:p>
            <a:pPr marL="228600" indent="-228600" algn="l">
              <a:buChar char="•"/>
            </a:pPr>
            <a:r>
              <a:rPr lang="en-US" sz="2800" dirty="0">
                <a:solidFill>
                  <a:srgbClr val="1F2A44"/>
                </a:solidFill>
                <a:latin typeface="Calibri"/>
              </a:rPr>
              <a:t>A PoC is available on </a:t>
            </a:r>
            <a:r>
              <a:rPr lang="en-US" sz="2800" dirty="0" err="1">
                <a:solidFill>
                  <a:srgbClr val="1F2A44"/>
                </a:solidFill>
                <a:latin typeface="Calibri"/>
              </a:rPr>
              <a:t>Github</a:t>
            </a:r>
            <a:r>
              <a:rPr lang="en-US" sz="2800" dirty="0">
                <a:solidFill>
                  <a:srgbClr val="1F2A44"/>
                </a:solidFill>
                <a:latin typeface="Calibri"/>
              </a:rPr>
              <a:t>: </a:t>
            </a:r>
            <a:r>
              <a:rPr lang="en-US" dirty="0">
                <a:solidFill>
                  <a:srgbClr val="1F2A44"/>
                </a:solidFill>
                <a:latin typeface="Calibri"/>
              </a:rPr>
              <a:t>https://</a:t>
            </a:r>
            <a:r>
              <a:rPr lang="en-US" dirty="0" err="1">
                <a:solidFill>
                  <a:srgbClr val="1F2A44"/>
                </a:solidFill>
                <a:latin typeface="Calibri"/>
              </a:rPr>
              <a:t>github.com</a:t>
            </a:r>
            <a:r>
              <a:rPr lang="en-US" dirty="0">
                <a:solidFill>
                  <a:srgbClr val="1F2A44"/>
                </a:solidFill>
                <a:latin typeface="Calibri"/>
              </a:rPr>
              <a:t>/</a:t>
            </a:r>
            <a:r>
              <a:rPr lang="en-US" dirty="0" err="1">
                <a:solidFill>
                  <a:srgbClr val="1F2A44"/>
                </a:solidFill>
                <a:latin typeface="Calibri"/>
              </a:rPr>
              <a:t>IoTone</a:t>
            </a:r>
            <a:r>
              <a:rPr lang="en-US" dirty="0">
                <a:solidFill>
                  <a:srgbClr val="1F2A44"/>
                </a:solidFill>
                <a:latin typeface="Calibri"/>
              </a:rPr>
              <a:t>/</a:t>
            </a:r>
            <a:r>
              <a:rPr lang="en-US" dirty="0" err="1">
                <a:solidFill>
                  <a:srgbClr val="1F2A44"/>
                </a:solidFill>
                <a:latin typeface="Calibri"/>
              </a:rPr>
              <a:t>ProjectMagNET</a:t>
            </a:r>
            <a:r>
              <a:rPr lang="en-US" dirty="0">
                <a:solidFill>
                  <a:srgbClr val="1F2A44"/>
                </a:solidFill>
                <a:latin typeface="Calibri"/>
              </a:rPr>
              <a:t>/tree/dev/reference-designs/</a:t>
            </a:r>
            <a:r>
              <a:rPr lang="en-US" dirty="0" err="1">
                <a:solidFill>
                  <a:srgbClr val="1F2A44"/>
                </a:solidFill>
                <a:latin typeface="Calibri"/>
              </a:rPr>
              <a:t>webxrofthings</a:t>
            </a:r>
            <a:r>
              <a:rPr lang="en-US" dirty="0">
                <a:solidFill>
                  <a:srgbClr val="1F2A44"/>
                </a:solidFill>
                <a:latin typeface="Calibri"/>
              </a:rPr>
              <a:t>/prototype/d3-spatial/demo</a:t>
            </a:r>
          </a:p>
          <a:p>
            <a:pPr marL="228600" indent="-228600" algn="l">
              <a:buChar char="•"/>
            </a:pPr>
            <a:r>
              <a:rPr lang="en-US" sz="2800" dirty="0">
                <a:solidFill>
                  <a:srgbClr val="1F2A44"/>
                </a:solidFill>
                <a:latin typeface="Calibri"/>
              </a:rPr>
              <a:t>This poster, and original proposal: </a:t>
            </a:r>
            <a:r>
              <a:rPr lang="en-US" dirty="0">
                <a:solidFill>
                  <a:srgbClr val="1F2A44"/>
                </a:solidFill>
                <a:latin typeface="Calibri"/>
              </a:rPr>
              <a:t>https://</a:t>
            </a:r>
            <a:r>
              <a:rPr lang="en-US" dirty="0" err="1">
                <a:solidFill>
                  <a:srgbClr val="1F2A44"/>
                </a:solidFill>
                <a:latin typeface="Calibri"/>
              </a:rPr>
              <a:t>github.com</a:t>
            </a:r>
            <a:r>
              <a:rPr lang="en-US" dirty="0">
                <a:solidFill>
                  <a:srgbClr val="1F2A44"/>
                </a:solidFill>
                <a:latin typeface="Calibri"/>
              </a:rPr>
              <a:t>/</a:t>
            </a:r>
            <a:r>
              <a:rPr lang="en-US" dirty="0" err="1">
                <a:solidFill>
                  <a:srgbClr val="1F2A44"/>
                </a:solidFill>
                <a:latin typeface="Calibri"/>
              </a:rPr>
              <a:t>IoTone</a:t>
            </a:r>
            <a:r>
              <a:rPr lang="en-US" dirty="0">
                <a:solidFill>
                  <a:srgbClr val="1F2A44"/>
                </a:solidFill>
                <a:latin typeface="Calibri"/>
              </a:rPr>
              <a:t>/</a:t>
            </a:r>
            <a:r>
              <a:rPr lang="en-US" dirty="0" err="1">
                <a:solidFill>
                  <a:srgbClr val="1F2A44"/>
                </a:solidFill>
                <a:latin typeface="Calibri"/>
              </a:rPr>
              <a:t>ProjectMagNET</a:t>
            </a:r>
            <a:r>
              <a:rPr lang="en-US" dirty="0">
                <a:solidFill>
                  <a:srgbClr val="1F2A44"/>
                </a:solidFill>
                <a:latin typeface="Calibri"/>
              </a:rPr>
              <a:t>/blob/dev/reference-designs/</a:t>
            </a:r>
            <a:r>
              <a:rPr lang="en-US" dirty="0" err="1">
                <a:solidFill>
                  <a:srgbClr val="1F2A44"/>
                </a:solidFill>
                <a:latin typeface="Calibri"/>
              </a:rPr>
              <a:t>webxrofthings</a:t>
            </a:r>
            <a:endParaRPr dirty="0">
              <a:solidFill>
                <a:srgbClr val="1F2A44"/>
              </a:solidFill>
              <a:latin typeface="Calibri"/>
            </a:endParaRPr>
          </a:p>
        </p:txBody>
      </p:sp>
      <p:sp>
        <p:nvSpPr>
          <p:cNvPr id="41" name="Rectangle 40"/>
          <p:cNvSpPr/>
          <p:nvPr/>
        </p:nvSpPr>
        <p:spPr>
          <a:xfrm>
            <a:off x="20466000" y="15660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0466000" y="15660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Conclusions</a:t>
            </a:r>
          </a:p>
        </p:txBody>
      </p:sp>
      <p:sp>
        <p:nvSpPr>
          <p:cNvPr id="43" name="Rectangle 42"/>
          <p:cNvSpPr/>
          <p:nvPr/>
        </p:nvSpPr>
        <p:spPr>
          <a:xfrm>
            <a:off x="20466000" y="16956000"/>
            <a:ext cx="9360000" cy="720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0466000" y="17028000"/>
            <a:ext cx="9360000" cy="6681417"/>
          </a:xfrm>
          <a:prstGeom prst="rect">
            <a:avLst/>
          </a:prstGeom>
          <a:noFill/>
        </p:spPr>
        <p:txBody>
          <a:bodyPr wrap="square" lIns="144000" tIns="108000" rIns="144000" bIns="108000" anchor="t">
            <a:spAutoFit/>
          </a:bodyPr>
          <a:lstStyle/>
          <a:p>
            <a:pPr marL="228600" indent="-228600" algn="l">
              <a:buChar char="•"/>
            </a:pPr>
            <a:r>
              <a:rPr lang="en-US" sz="2800" dirty="0">
                <a:solidFill>
                  <a:srgbClr val="1F2A44"/>
                </a:solidFill>
                <a:latin typeface="Calibri"/>
              </a:rPr>
              <a:t>The </a:t>
            </a:r>
            <a:r>
              <a:rPr lang="en-US" sz="2800" dirty="0" err="1">
                <a:solidFill>
                  <a:srgbClr val="1F2A44"/>
                </a:solidFill>
                <a:latin typeface="Calibri"/>
              </a:rPr>
              <a:t>WebXR</a:t>
            </a:r>
            <a:r>
              <a:rPr lang="en-US" sz="2800" dirty="0">
                <a:solidFill>
                  <a:srgbClr val="1F2A44"/>
                </a:solidFill>
                <a:latin typeface="Calibri"/>
              </a:rPr>
              <a:t> of Things can be a reality if we design it into our products</a:t>
            </a:r>
          </a:p>
          <a:p>
            <a:pPr marL="228600" indent="-228600" algn="l">
              <a:buChar char="•"/>
            </a:pPr>
            <a:r>
              <a:rPr lang="en-US" sz="2800" dirty="0">
                <a:solidFill>
                  <a:srgbClr val="1F2A44"/>
                </a:solidFill>
                <a:latin typeface="Calibri"/>
              </a:rPr>
              <a:t>It is possible to build in an open way on top of W3C standards to explore IoT devices, and the data around us</a:t>
            </a:r>
          </a:p>
          <a:p>
            <a:pPr marL="228600" indent="-228600" algn="l">
              <a:buChar char="•"/>
            </a:pPr>
            <a:r>
              <a:rPr lang="en-US" sz="2800" dirty="0">
                <a:solidFill>
                  <a:srgbClr val="1F2A44"/>
                </a:solidFill>
                <a:latin typeface="Calibri"/>
              </a:rPr>
              <a:t>Dataspaces can exist anywhere: in a home, a car, an airplane seat, at a hospital, in a museum, at this conference.  </a:t>
            </a:r>
          </a:p>
          <a:p>
            <a:pPr marL="228600" indent="-228600" algn="l">
              <a:buChar char="•"/>
            </a:pPr>
            <a:r>
              <a:rPr lang="en-US" sz="2800" dirty="0">
                <a:solidFill>
                  <a:srgbClr val="1F2A44"/>
                </a:solidFill>
                <a:latin typeface="Calibri"/>
              </a:rPr>
              <a:t>The owner of the data should own the stack and decide their own privacy and copyright to data, not the device manufacturer or HMD maker.  To force the user into adversarial outcomes of data collected by the HMD is a risk to the future of XR devices becoming mainstream</a:t>
            </a:r>
          </a:p>
          <a:p>
            <a:pPr marL="228600" indent="-228600" algn="l">
              <a:buChar char="•"/>
            </a:pPr>
            <a:r>
              <a:rPr lang="en-US" sz="2800" dirty="0">
                <a:solidFill>
                  <a:srgbClr val="1F2A44"/>
                </a:solidFill>
                <a:latin typeface="Calibri"/>
              </a:rPr>
              <a:t>Open Questions: how can the XR community unite to solve serious challenges with substandard </a:t>
            </a:r>
            <a:r>
              <a:rPr lang="en-US" sz="2800" dirty="0" err="1">
                <a:solidFill>
                  <a:srgbClr val="1F2A44"/>
                </a:solidFill>
                <a:latin typeface="Calibri"/>
              </a:rPr>
              <a:t>WebXR</a:t>
            </a:r>
            <a:r>
              <a:rPr lang="en-US" sz="2800" dirty="0">
                <a:solidFill>
                  <a:srgbClr val="1F2A44"/>
                </a:solidFill>
                <a:latin typeface="Calibri"/>
              </a:rPr>
              <a:t> browser experience?  Who among us will build the first Open Hardware spatial XR glasses?</a:t>
            </a:r>
          </a:p>
        </p:txBody>
      </p:sp>
      <p:sp>
        <p:nvSpPr>
          <p:cNvPr id="45" name="Rectangle 44"/>
          <p:cNvSpPr/>
          <p:nvPr/>
        </p:nvSpPr>
        <p:spPr>
          <a:xfrm>
            <a:off x="20466000" y="24732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0466000" y="24732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Future Work</a:t>
            </a:r>
          </a:p>
        </p:txBody>
      </p:sp>
      <p:sp>
        <p:nvSpPr>
          <p:cNvPr id="47" name="Rectangle 46"/>
          <p:cNvSpPr/>
          <p:nvPr/>
        </p:nvSpPr>
        <p:spPr>
          <a:xfrm>
            <a:off x="20466000" y="26028000"/>
            <a:ext cx="9360000" cy="468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0466000" y="26100000"/>
            <a:ext cx="9360000" cy="3234320"/>
          </a:xfrm>
          <a:prstGeom prst="rect">
            <a:avLst/>
          </a:prstGeom>
          <a:noFill/>
        </p:spPr>
        <p:txBody>
          <a:bodyPr wrap="square" lIns="144000" tIns="108000" rIns="144000" bIns="108000" anchor="t">
            <a:spAutoFit/>
          </a:bodyPr>
          <a:lstStyle/>
          <a:p>
            <a:pPr marL="228600" indent="-228600" algn="l">
              <a:buChar char="•"/>
            </a:pPr>
            <a:r>
              <a:rPr lang="en-US" sz="2800" dirty="0">
                <a:solidFill>
                  <a:srgbClr val="1F2A44"/>
                </a:solidFill>
                <a:latin typeface="Calibri"/>
              </a:rPr>
              <a:t>We plan to port the demo running on a laptop to a MediaTek </a:t>
            </a:r>
            <a:r>
              <a:rPr lang="en-US" sz="2800" dirty="0" err="1">
                <a:solidFill>
                  <a:srgbClr val="1F2A44"/>
                </a:solidFill>
                <a:latin typeface="Calibri"/>
              </a:rPr>
              <a:t>Genio</a:t>
            </a:r>
            <a:r>
              <a:rPr lang="en-US" sz="2800" dirty="0">
                <a:solidFill>
                  <a:srgbClr val="1F2A44"/>
                </a:solidFill>
                <a:latin typeface="Calibri"/>
              </a:rPr>
              <a:t> MTK720 </a:t>
            </a:r>
            <a:r>
              <a:rPr lang="en-US" sz="2800">
                <a:solidFill>
                  <a:srgbClr val="1F2A44"/>
                </a:solidFill>
                <a:latin typeface="Calibri"/>
              </a:rPr>
              <a:t>from GTI to </a:t>
            </a:r>
            <a:r>
              <a:rPr lang="en-US" sz="2800" dirty="0">
                <a:solidFill>
                  <a:srgbClr val="1F2A44"/>
                </a:solidFill>
                <a:latin typeface="Calibri"/>
              </a:rPr>
              <a:t>act as a gateway that can be deployed into any location, including a cyberdeck</a:t>
            </a:r>
          </a:p>
          <a:p>
            <a:pPr marL="228600" indent="-228600" algn="l">
              <a:buChar char="•"/>
            </a:pPr>
            <a:r>
              <a:rPr lang="en-US" sz="2800" dirty="0">
                <a:solidFill>
                  <a:srgbClr val="1F2A44"/>
                </a:solidFill>
                <a:latin typeface="Calibri"/>
              </a:rPr>
              <a:t>We want to finish Spatial D3.js to get the various design primitives ported spatially</a:t>
            </a:r>
            <a:endParaRPr sz="2800" dirty="0">
              <a:solidFill>
                <a:srgbClr val="1F2A44"/>
              </a:solidFill>
              <a:latin typeface="Calibri"/>
            </a:endParaRPr>
          </a:p>
          <a:p>
            <a:pPr marL="228600" indent="-228600" algn="l">
              <a:buChar char="•"/>
            </a:pPr>
            <a:r>
              <a:rPr lang="en-US" sz="2800" dirty="0">
                <a:solidFill>
                  <a:srgbClr val="1F2A44"/>
                </a:solidFill>
                <a:latin typeface="Calibri"/>
              </a:rPr>
              <a:t>We would like to find collaborators to build a true Open Hardware XR Glasses design</a:t>
            </a:r>
            <a:endParaRPr sz="2800" dirty="0">
              <a:solidFill>
                <a:srgbClr val="1F2A44"/>
              </a:solidFill>
              <a:latin typeface="Calibri"/>
            </a:endParaRPr>
          </a:p>
        </p:txBody>
      </p:sp>
      <p:sp>
        <p:nvSpPr>
          <p:cNvPr id="49" name="Rectangle 48"/>
          <p:cNvSpPr/>
          <p:nvPr/>
        </p:nvSpPr>
        <p:spPr>
          <a:xfrm>
            <a:off x="20466000" y="31284000"/>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0466000" y="31284000"/>
            <a:ext cx="9360000" cy="1296000"/>
          </a:xfrm>
          <a:prstGeom prst="rect">
            <a:avLst/>
          </a:prstGeom>
          <a:noFill/>
        </p:spPr>
        <p:txBody>
          <a:bodyPr wrap="square" lIns="144000" tIns="72000" rIns="144000" bIns="72000" anchor="ctr">
            <a:spAutoFit/>
          </a:bodyPr>
          <a:lstStyle/>
          <a:p>
            <a:pPr algn="ctr"/>
            <a:r>
              <a:rPr sz="5200" b="1" i="0">
                <a:solidFill>
                  <a:srgbClr val="FFFFFF"/>
                </a:solidFill>
                <a:latin typeface="Calibri"/>
              </a:rPr>
              <a:t>Acknowledgements</a:t>
            </a:r>
          </a:p>
        </p:txBody>
      </p:sp>
      <p:sp>
        <p:nvSpPr>
          <p:cNvPr id="51" name="Rectangle 50"/>
          <p:cNvSpPr/>
          <p:nvPr/>
        </p:nvSpPr>
        <p:spPr>
          <a:xfrm>
            <a:off x="20466000" y="32580000"/>
            <a:ext cx="9360000" cy="4536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0610000" y="32657008"/>
            <a:ext cx="9360000" cy="4957868"/>
          </a:xfrm>
          <a:prstGeom prst="rect">
            <a:avLst/>
          </a:prstGeom>
          <a:noFill/>
        </p:spPr>
        <p:txBody>
          <a:bodyPr wrap="square" lIns="144000" tIns="108000" rIns="144000" bIns="108000" anchor="t">
            <a:spAutoFit/>
          </a:bodyPr>
          <a:lstStyle/>
          <a:p>
            <a:pPr marL="228600" indent="-228600" algn="l">
              <a:buChar char="•"/>
            </a:pPr>
            <a:r>
              <a:rPr lang="en-US" sz="2800" dirty="0">
                <a:solidFill>
                  <a:srgbClr val="1F2A44"/>
                </a:solidFill>
                <a:latin typeface="Calibri"/>
              </a:rPr>
              <a:t>Special thanks to </a:t>
            </a:r>
            <a:r>
              <a:rPr lang="en-US" sz="2800" dirty="0" err="1">
                <a:solidFill>
                  <a:srgbClr val="1F2A44"/>
                </a:solidFill>
                <a:latin typeface="Calibri"/>
              </a:rPr>
              <a:t>IoTone</a:t>
            </a:r>
            <a:r>
              <a:rPr lang="en-US" sz="2800" dirty="0">
                <a:solidFill>
                  <a:srgbClr val="1F2A44"/>
                </a:solidFill>
                <a:latin typeface="Calibri"/>
              </a:rPr>
              <a:t>, Inc (USA) for supporting the OSS work.  Claude code for PoC.</a:t>
            </a:r>
          </a:p>
          <a:p>
            <a:pPr marL="228600" indent="-228600" algn="l">
              <a:buChar char="•"/>
            </a:pPr>
            <a:r>
              <a:rPr lang="en-US" sz="2800" dirty="0">
                <a:solidFill>
                  <a:srgbClr val="1F2A44"/>
                </a:solidFill>
                <a:latin typeface="Calibri"/>
              </a:rPr>
              <a:t>Work like this cannot happen without projects like </a:t>
            </a:r>
            <a:r>
              <a:rPr lang="en-US" sz="2800" dirty="0" err="1">
                <a:solidFill>
                  <a:srgbClr val="1F2A44"/>
                </a:solidFill>
                <a:latin typeface="Calibri"/>
              </a:rPr>
              <a:t>ThreeJS</a:t>
            </a:r>
            <a:r>
              <a:rPr lang="en-US" sz="2800" dirty="0">
                <a:solidFill>
                  <a:srgbClr val="1F2A44"/>
                </a:solidFill>
                <a:latin typeface="Calibri"/>
              </a:rPr>
              <a:t>, W3C standards, Chromium</a:t>
            </a:r>
          </a:p>
          <a:p>
            <a:pPr marL="228600" indent="-228600" algn="l">
              <a:buChar char="•"/>
            </a:pPr>
            <a:r>
              <a:rPr lang="en-US" sz="2800" dirty="0">
                <a:solidFill>
                  <a:srgbClr val="1F2A44"/>
                </a:solidFill>
                <a:latin typeface="Calibri"/>
              </a:rPr>
              <a:t>Hackathons like </a:t>
            </a:r>
            <a:r>
              <a:rPr lang="en-US" sz="2800" dirty="0" err="1">
                <a:solidFill>
                  <a:srgbClr val="1F2A44"/>
                </a:solidFill>
                <a:latin typeface="Calibri"/>
              </a:rPr>
              <a:t>VisionDevCamp</a:t>
            </a:r>
            <a:r>
              <a:rPr lang="en-US" sz="2800" dirty="0">
                <a:solidFill>
                  <a:srgbClr val="1F2A44"/>
                </a:solidFill>
                <a:latin typeface="Calibri"/>
              </a:rPr>
              <a:t> and MIT Reality Hack which inspire us to think spatially</a:t>
            </a:r>
          </a:p>
          <a:p>
            <a:pPr marL="228600" indent="-228600" algn="l">
              <a:buChar char="•"/>
            </a:pPr>
            <a:r>
              <a:rPr lang="en-US" sz="2800" dirty="0">
                <a:solidFill>
                  <a:srgbClr val="1F2A44"/>
                </a:solidFill>
                <a:latin typeface="Calibri"/>
              </a:rPr>
              <a:t>Tron (1982), the one that taught us about the data worlds locked away inside of computers</a:t>
            </a:r>
          </a:p>
          <a:p>
            <a:pPr marL="228600" indent="-228600" algn="l">
              <a:buChar char="•"/>
            </a:pPr>
            <a:r>
              <a:rPr lang="en-US" sz="2800" dirty="0">
                <a:solidFill>
                  <a:srgbClr val="1F2A44"/>
                </a:solidFill>
                <a:latin typeface="Calibri"/>
              </a:rPr>
              <a:t>Projects like Mozilla Hubs[1], </a:t>
            </a:r>
            <a:r>
              <a:rPr lang="en-US" sz="2800" dirty="0" err="1">
                <a:solidFill>
                  <a:srgbClr val="1F2A44"/>
                </a:solidFill>
                <a:latin typeface="Calibri"/>
              </a:rPr>
              <a:t>HomeAssistant</a:t>
            </a:r>
            <a:r>
              <a:rPr lang="en-US" sz="2800" dirty="0">
                <a:solidFill>
                  <a:srgbClr val="1F2A44"/>
                </a:solidFill>
                <a:latin typeface="Calibri"/>
              </a:rPr>
              <a:t>[2] for some solid ideas</a:t>
            </a:r>
          </a:p>
          <a:p>
            <a:pPr marL="228600" indent="-228600" algn="l">
              <a:buChar char="•"/>
            </a:pPr>
            <a:endParaRPr sz="2800" dirty="0">
              <a:solidFill>
                <a:srgbClr val="1F2A44"/>
              </a:solidFill>
              <a:latin typeface="Calibri"/>
            </a:endParaRPr>
          </a:p>
        </p:txBody>
      </p:sp>
      <p:sp>
        <p:nvSpPr>
          <p:cNvPr id="53" name="Rectangle 52"/>
          <p:cNvSpPr/>
          <p:nvPr/>
        </p:nvSpPr>
        <p:spPr>
          <a:xfrm>
            <a:off x="20466000" y="37116000"/>
            <a:ext cx="4536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0466000" y="37116000"/>
            <a:ext cx="4536000" cy="1296000"/>
          </a:xfrm>
          <a:prstGeom prst="rect">
            <a:avLst/>
          </a:prstGeom>
          <a:noFill/>
        </p:spPr>
        <p:txBody>
          <a:bodyPr wrap="square" lIns="144000" tIns="72000" rIns="144000" bIns="72000" anchor="ctr">
            <a:spAutoFit/>
          </a:bodyPr>
          <a:lstStyle/>
          <a:p>
            <a:pPr algn="ctr"/>
            <a:r>
              <a:rPr sz="4400" b="1" i="0">
                <a:solidFill>
                  <a:srgbClr val="FFFFFF"/>
                </a:solidFill>
                <a:latin typeface="Calibri"/>
              </a:rPr>
              <a:t>References</a:t>
            </a:r>
          </a:p>
        </p:txBody>
      </p:sp>
      <p:sp>
        <p:nvSpPr>
          <p:cNvPr id="55" name="Rectangle 54"/>
          <p:cNvSpPr/>
          <p:nvPr/>
        </p:nvSpPr>
        <p:spPr>
          <a:xfrm>
            <a:off x="20466000" y="38412000"/>
            <a:ext cx="4536000" cy="396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0466000" y="38484000"/>
            <a:ext cx="4536000" cy="1880103"/>
          </a:xfrm>
          <a:prstGeom prst="rect">
            <a:avLst/>
          </a:prstGeom>
          <a:noFill/>
        </p:spPr>
        <p:txBody>
          <a:bodyPr wrap="square" lIns="144000" tIns="108000" rIns="144000" bIns="108000" anchor="t">
            <a:spAutoFit/>
          </a:bodyPr>
          <a:lstStyle/>
          <a:p>
            <a:pPr marL="228600" indent="-228600" algn="l">
              <a:buChar char="•"/>
            </a:pPr>
            <a:r>
              <a:rPr sz="1800" dirty="0">
                <a:solidFill>
                  <a:srgbClr val="1F2A44"/>
                </a:solidFill>
                <a:latin typeface="Calibri"/>
              </a:rPr>
              <a:t>[1] </a:t>
            </a:r>
            <a:r>
              <a:rPr lang="en-US" sz="1800" dirty="0">
                <a:solidFill>
                  <a:srgbClr val="1F2A44"/>
                </a:solidFill>
                <a:latin typeface="Calibri"/>
              </a:rPr>
              <a:t>Mozilla Hubs link codes</a:t>
            </a:r>
            <a:r>
              <a:rPr sz="1800" dirty="0">
                <a:solidFill>
                  <a:srgbClr val="1F2A44"/>
                </a:solidFill>
                <a:latin typeface="Calibri"/>
              </a:rPr>
              <a:t> (</a:t>
            </a:r>
            <a:r>
              <a:rPr lang="en-US" sz="1800" dirty="0">
                <a:solidFill>
                  <a:srgbClr val="1F2A44"/>
                </a:solidFill>
                <a:latin typeface="Calibri"/>
              </a:rPr>
              <a:t>2020</a:t>
            </a:r>
            <a:r>
              <a:rPr sz="1800" dirty="0">
                <a:solidFill>
                  <a:srgbClr val="1F2A44"/>
                </a:solidFill>
                <a:latin typeface="Calibri"/>
              </a:rPr>
              <a:t>)</a:t>
            </a:r>
            <a:r>
              <a:rPr lang="en-US" sz="1800" dirty="0">
                <a:solidFill>
                  <a:srgbClr val="1F2A44"/>
                </a:solidFill>
                <a:latin typeface="Calibri"/>
              </a:rPr>
              <a:t> example: https://</a:t>
            </a:r>
            <a:r>
              <a:rPr lang="en-US" sz="1800" dirty="0" err="1">
                <a:solidFill>
                  <a:srgbClr val="1F2A44"/>
                </a:solidFill>
                <a:latin typeface="Calibri"/>
              </a:rPr>
              <a:t>blog.mozilla.org</a:t>
            </a:r>
            <a:r>
              <a:rPr lang="en-US" sz="1800" dirty="0">
                <a:solidFill>
                  <a:srgbClr val="1F2A44"/>
                </a:solidFill>
                <a:latin typeface="Calibri"/>
              </a:rPr>
              <a:t>/wp-content/</a:t>
            </a:r>
            <a:r>
              <a:rPr lang="en-US" sz="1800" dirty="0" err="1">
                <a:solidFill>
                  <a:srgbClr val="1F2A44"/>
                </a:solidFill>
                <a:latin typeface="Calibri"/>
              </a:rPr>
              <a:t>blogs.dir</a:t>
            </a:r>
            <a:r>
              <a:rPr lang="en-US" sz="1800" dirty="0">
                <a:solidFill>
                  <a:srgbClr val="1F2A44"/>
                </a:solidFill>
                <a:latin typeface="Calibri"/>
              </a:rPr>
              <a:t>/278/files/2020/10/hubs-</a:t>
            </a:r>
            <a:r>
              <a:rPr lang="en-US" sz="1800" dirty="0" err="1">
                <a:solidFill>
                  <a:srgbClr val="1F2A44"/>
                </a:solidFill>
                <a:latin typeface="Calibri"/>
              </a:rPr>
              <a:t>share.png</a:t>
            </a:r>
            <a:endParaRPr sz="1800" dirty="0">
              <a:solidFill>
                <a:srgbClr val="1F2A44"/>
              </a:solidFill>
              <a:latin typeface="Calibri"/>
            </a:endParaRPr>
          </a:p>
          <a:p>
            <a:pPr marL="228600" indent="-228600" algn="l">
              <a:buChar char="•"/>
            </a:pPr>
            <a:r>
              <a:rPr sz="1800" dirty="0">
                <a:solidFill>
                  <a:srgbClr val="1F2A44"/>
                </a:solidFill>
                <a:latin typeface="Calibri"/>
              </a:rPr>
              <a:t>[2] </a:t>
            </a:r>
            <a:r>
              <a:rPr lang="en-US" sz="1800" dirty="0" err="1">
                <a:solidFill>
                  <a:srgbClr val="1F2A44"/>
                </a:solidFill>
                <a:latin typeface="Calibri"/>
              </a:rPr>
              <a:t>HomeAssistant</a:t>
            </a:r>
            <a:r>
              <a:rPr lang="en-US" dirty="0">
                <a:solidFill>
                  <a:srgbClr val="1F2A44"/>
                </a:solidFill>
                <a:latin typeface="Calibri"/>
              </a:rPr>
              <a:t> (2013-Present): https://</a:t>
            </a:r>
            <a:r>
              <a:rPr lang="en-US" dirty="0" err="1">
                <a:solidFill>
                  <a:srgbClr val="1F2A44"/>
                </a:solidFill>
                <a:latin typeface="Calibri"/>
              </a:rPr>
              <a:t>www.home-assistant.io</a:t>
            </a:r>
            <a:r>
              <a:rPr lang="en-US" dirty="0">
                <a:solidFill>
                  <a:srgbClr val="1F2A44"/>
                </a:solidFill>
                <a:latin typeface="Calibri"/>
              </a:rPr>
              <a:t>/</a:t>
            </a:r>
            <a:endParaRPr sz="1800" dirty="0">
              <a:solidFill>
                <a:srgbClr val="1F2A44"/>
              </a:solidFill>
              <a:latin typeface="Calibri"/>
            </a:endParaRPr>
          </a:p>
        </p:txBody>
      </p:sp>
      <p:sp>
        <p:nvSpPr>
          <p:cNvPr id="57" name="Rectangle 56"/>
          <p:cNvSpPr/>
          <p:nvPr/>
        </p:nvSpPr>
        <p:spPr>
          <a:xfrm>
            <a:off x="25290000" y="37116000"/>
            <a:ext cx="4536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25290000" y="37116000"/>
            <a:ext cx="4536000" cy="1296000"/>
          </a:xfrm>
          <a:prstGeom prst="rect">
            <a:avLst/>
          </a:prstGeom>
          <a:noFill/>
        </p:spPr>
        <p:txBody>
          <a:bodyPr wrap="square" lIns="144000" tIns="72000" rIns="144000" bIns="72000" anchor="ctr">
            <a:spAutoFit/>
          </a:bodyPr>
          <a:lstStyle/>
          <a:p>
            <a:pPr algn="ctr"/>
            <a:r>
              <a:rPr sz="4400" b="1" i="0">
                <a:solidFill>
                  <a:srgbClr val="FFFFFF"/>
                </a:solidFill>
                <a:latin typeface="Calibri"/>
              </a:rPr>
              <a:t>Contact</a:t>
            </a:r>
          </a:p>
        </p:txBody>
      </p:sp>
      <p:sp>
        <p:nvSpPr>
          <p:cNvPr id="59" name="Rectangle 58"/>
          <p:cNvSpPr/>
          <p:nvPr/>
        </p:nvSpPr>
        <p:spPr>
          <a:xfrm>
            <a:off x="25290000" y="38412000"/>
            <a:ext cx="4536000" cy="3960000"/>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25506000" y="38844000"/>
            <a:ext cx="2160000" cy="2160000"/>
          </a:xfrm>
          <a:prstGeom prst="rect">
            <a:avLst/>
          </a:prstGeom>
          <a:solidFill>
            <a:srgbClr val="FFFFFF"/>
          </a:solidFill>
          <a:ln w="19050">
            <a:solidFill>
              <a:srgbClr val="2541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5506000" y="38844000"/>
            <a:ext cx="2160000" cy="2160000"/>
          </a:xfrm>
          <a:prstGeom prst="rect">
            <a:avLst/>
          </a:prstGeom>
          <a:noFill/>
        </p:spPr>
        <p:txBody>
          <a:bodyPr wrap="square" lIns="144000" tIns="72000" rIns="144000" bIns="72000" anchor="ctr">
            <a:spAutoFit/>
          </a:bodyPr>
          <a:lstStyle/>
          <a:p>
            <a:pPr algn="ctr"/>
            <a:r>
              <a:rPr sz="1600" b="0" i="0" dirty="0">
                <a:solidFill>
                  <a:srgbClr val="556688"/>
                </a:solidFill>
                <a:latin typeface="Calibri"/>
              </a:rPr>
              <a:t>QR</a:t>
            </a:r>
          </a:p>
          <a:p>
            <a:pPr algn="ctr"/>
            <a:r>
              <a:rPr sz="1600" b="0" i="0" dirty="0">
                <a:solidFill>
                  <a:srgbClr val="556688"/>
                </a:solidFill>
                <a:latin typeface="Calibri"/>
              </a:rPr>
              <a:t>Code</a:t>
            </a:r>
          </a:p>
          <a:p>
            <a:pPr algn="ctr"/>
            <a:r>
              <a:rPr sz="1600" b="0" i="0" dirty="0">
                <a:solidFill>
                  <a:srgbClr val="556688"/>
                </a:solidFill>
                <a:latin typeface="Calibri"/>
              </a:rPr>
              <a:t>Here</a:t>
            </a:r>
          </a:p>
        </p:txBody>
      </p:sp>
      <p:sp>
        <p:nvSpPr>
          <p:cNvPr id="62" name="TextBox 61"/>
          <p:cNvSpPr txBox="1"/>
          <p:nvPr/>
        </p:nvSpPr>
        <p:spPr>
          <a:xfrm>
            <a:off x="27882000" y="38700000"/>
            <a:ext cx="1728000" cy="2157102"/>
          </a:xfrm>
          <a:prstGeom prst="rect">
            <a:avLst/>
          </a:prstGeom>
          <a:noFill/>
        </p:spPr>
        <p:txBody>
          <a:bodyPr wrap="square" lIns="144000" tIns="108000" rIns="144000" bIns="108000" anchor="t">
            <a:spAutoFit/>
          </a:bodyPr>
          <a:lstStyle/>
          <a:p>
            <a:pPr marL="228600" indent="-228600" algn="l">
              <a:buChar char="•"/>
            </a:pPr>
            <a:r>
              <a:rPr lang="en-US" sz="1800" dirty="0">
                <a:solidFill>
                  <a:srgbClr val="1F2A44"/>
                </a:solidFill>
                <a:latin typeface="Calibri"/>
              </a:rPr>
              <a:t>David J. Kordsmeier</a:t>
            </a:r>
            <a:endParaRPr sz="1800" dirty="0">
              <a:solidFill>
                <a:srgbClr val="1F2A44"/>
              </a:solidFill>
              <a:latin typeface="Calibri"/>
            </a:endParaRPr>
          </a:p>
          <a:p>
            <a:pPr marL="228600" indent="-228600" algn="l">
              <a:buChar char="•"/>
            </a:pPr>
            <a:r>
              <a:rPr lang="en-US" sz="1800" dirty="0" err="1">
                <a:solidFill>
                  <a:srgbClr val="1F2A44"/>
                </a:solidFill>
                <a:latin typeface="Calibri"/>
              </a:rPr>
              <a:t>IoTone</a:t>
            </a:r>
            <a:r>
              <a:rPr lang="en-US" sz="1800" dirty="0">
                <a:solidFill>
                  <a:srgbClr val="1F2A44"/>
                </a:solidFill>
                <a:latin typeface="Calibri"/>
              </a:rPr>
              <a:t> Japan</a:t>
            </a:r>
            <a:endParaRPr sz="1800" dirty="0">
              <a:solidFill>
                <a:srgbClr val="1F2A44"/>
              </a:solidFill>
              <a:latin typeface="Calibri"/>
            </a:endParaRPr>
          </a:p>
          <a:p>
            <a:pPr marL="228600" indent="-228600" algn="l">
              <a:buChar char="•"/>
            </a:pPr>
            <a:r>
              <a:rPr lang="en-US" sz="1800" dirty="0" err="1">
                <a:solidFill>
                  <a:srgbClr val="1F2A44"/>
                </a:solidFill>
                <a:latin typeface="Calibri"/>
              </a:rPr>
              <a:t>djk@iotone.co.jp</a:t>
            </a:r>
            <a:endParaRPr sz="1800" dirty="0">
              <a:solidFill>
                <a:srgbClr val="1F2A44"/>
              </a:solidFill>
              <a:latin typeface="Calibri"/>
            </a:endParaRPr>
          </a:p>
          <a:p>
            <a:pPr marL="228600" indent="-228600" algn="l">
              <a:buChar char="•"/>
            </a:pPr>
            <a:r>
              <a:rPr lang="en-US" sz="1800" dirty="0" err="1">
                <a:solidFill>
                  <a:srgbClr val="1F2A44"/>
                </a:solidFill>
                <a:latin typeface="Calibri"/>
              </a:rPr>
              <a:t>www.iotone</a:t>
            </a:r>
            <a:r>
              <a:rPr lang="en-US" dirty="0" err="1">
                <a:solidFill>
                  <a:srgbClr val="1F2A44"/>
                </a:solidFill>
                <a:latin typeface="Calibri"/>
              </a:rPr>
              <a:t>ai.site</a:t>
            </a:r>
            <a:endParaRPr sz="1800" dirty="0">
              <a:solidFill>
                <a:srgbClr val="1F2A44"/>
              </a:solidFill>
              <a:latin typeface="Calibri"/>
            </a:endParaRPr>
          </a:p>
        </p:txBody>
      </p:sp>
      <p:sp>
        <p:nvSpPr>
          <p:cNvPr id="29" name="TextBox 28"/>
          <p:cNvSpPr txBox="1"/>
          <p:nvPr/>
        </p:nvSpPr>
        <p:spPr>
          <a:xfrm>
            <a:off x="10817606" y="19868400"/>
            <a:ext cx="8640000" cy="7524000"/>
          </a:xfrm>
          <a:prstGeom prst="rect">
            <a:avLst/>
          </a:prstGeom>
          <a:noFill/>
        </p:spPr>
        <p:txBody>
          <a:bodyPr wrap="square" lIns="144000" tIns="72000" rIns="144000" bIns="72000" anchor="ctr">
            <a:spAutoFit/>
          </a:bodyPr>
          <a:lstStyle/>
          <a:p>
            <a:pPr algn="ctr"/>
            <a:r>
              <a:rPr sz="4800" b="1" i="0" dirty="0">
                <a:solidFill>
                  <a:srgbClr val="25416A"/>
                </a:solidFill>
                <a:latin typeface="Calibri"/>
              </a:rPr>
              <a:t>Figure 2</a:t>
            </a:r>
          </a:p>
        </p:txBody>
      </p:sp>
      <p:pic>
        <p:nvPicPr>
          <p:cNvPr id="71" name="Picture 70" descr="A screenshot of a computer&#10;&#10;Description automatically generated">
            <a:extLst>
              <a:ext uri="{FF2B5EF4-FFF2-40B4-BE49-F238E27FC236}">
                <a16:creationId xmlns:a16="http://schemas.microsoft.com/office/drawing/2014/main" id="{D0F49447-2447-4DCE-6156-FEBAD3DFDE53}"/>
              </a:ext>
            </a:extLst>
          </p:cNvPr>
          <p:cNvPicPr>
            <a:picLocks noChangeAspect="1"/>
          </p:cNvPicPr>
          <p:nvPr/>
        </p:nvPicPr>
        <p:blipFill>
          <a:blip r:embed="rId3"/>
          <a:stretch>
            <a:fillRect/>
          </a:stretch>
        </p:blipFill>
        <p:spPr>
          <a:xfrm>
            <a:off x="11289052" y="11976571"/>
            <a:ext cx="7772400" cy="5159347"/>
          </a:xfrm>
          <a:prstGeom prst="rect">
            <a:avLst/>
          </a:prstGeom>
        </p:spPr>
      </p:pic>
      <p:pic>
        <p:nvPicPr>
          <p:cNvPr id="73" name="Picture 72" descr="A screenshot of a computer&#10;&#10;Description automatically generated">
            <a:extLst>
              <a:ext uri="{FF2B5EF4-FFF2-40B4-BE49-F238E27FC236}">
                <a16:creationId xmlns:a16="http://schemas.microsoft.com/office/drawing/2014/main" id="{4D41161B-FB5C-8501-9D52-4D10A965F092}"/>
              </a:ext>
            </a:extLst>
          </p:cNvPr>
          <p:cNvPicPr>
            <a:picLocks noChangeAspect="1"/>
          </p:cNvPicPr>
          <p:nvPr/>
        </p:nvPicPr>
        <p:blipFill>
          <a:blip r:embed="rId4"/>
          <a:stretch>
            <a:fillRect/>
          </a:stretch>
        </p:blipFill>
        <p:spPr>
          <a:xfrm>
            <a:off x="11146697" y="21093387"/>
            <a:ext cx="7772400" cy="5159347"/>
          </a:xfrm>
          <a:prstGeom prst="rect">
            <a:avLst/>
          </a:prstGeom>
        </p:spPr>
      </p:pic>
      <p:pic>
        <p:nvPicPr>
          <p:cNvPr id="75" name="Picture 74" descr="A cube with a grid and a diagram&#10;&#10;Description automatically generated with medium confidence">
            <a:extLst>
              <a:ext uri="{FF2B5EF4-FFF2-40B4-BE49-F238E27FC236}">
                <a16:creationId xmlns:a16="http://schemas.microsoft.com/office/drawing/2014/main" id="{DEDBFB37-59F9-2573-ADEF-BA05B94BFDF7}"/>
              </a:ext>
            </a:extLst>
          </p:cNvPr>
          <p:cNvPicPr>
            <a:picLocks noChangeAspect="1"/>
          </p:cNvPicPr>
          <p:nvPr/>
        </p:nvPicPr>
        <p:blipFill>
          <a:blip r:embed="rId5"/>
          <a:stretch>
            <a:fillRect/>
          </a:stretch>
        </p:blipFill>
        <p:spPr>
          <a:xfrm>
            <a:off x="11289052" y="30636000"/>
            <a:ext cx="7772400" cy="5159347"/>
          </a:xfrm>
          <a:prstGeom prst="rect">
            <a:avLst/>
          </a:prstGeom>
        </p:spPr>
      </p:pic>
      <p:sp>
        <p:nvSpPr>
          <p:cNvPr id="64" name="Rectangle 63">
            <a:extLst>
              <a:ext uri="{FF2B5EF4-FFF2-40B4-BE49-F238E27FC236}">
                <a16:creationId xmlns:a16="http://schemas.microsoft.com/office/drawing/2014/main" id="{126F9AE3-154A-1F2C-BCA4-60DB175251E8}"/>
              </a:ext>
            </a:extLst>
          </p:cNvPr>
          <p:cNvSpPr/>
          <p:nvPr/>
        </p:nvSpPr>
        <p:spPr>
          <a:xfrm>
            <a:off x="10457606" y="32885684"/>
            <a:ext cx="9360000" cy="1296000"/>
          </a:xfrm>
          <a:prstGeom prst="rect">
            <a:avLst/>
          </a:prstGeom>
          <a:solidFill>
            <a:srgbClr val="3A5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988ED02A-5530-ACDB-B3E4-FF5E6EA8CB1B}"/>
              </a:ext>
            </a:extLst>
          </p:cNvPr>
          <p:cNvSpPr txBox="1"/>
          <p:nvPr/>
        </p:nvSpPr>
        <p:spPr>
          <a:xfrm>
            <a:off x="10457606" y="33031028"/>
            <a:ext cx="9360000" cy="945625"/>
          </a:xfrm>
          <a:prstGeom prst="rect">
            <a:avLst/>
          </a:prstGeom>
          <a:noFill/>
        </p:spPr>
        <p:txBody>
          <a:bodyPr wrap="square" lIns="144000" tIns="72000" rIns="144000" bIns="72000" anchor="ctr">
            <a:spAutoFit/>
          </a:bodyPr>
          <a:lstStyle/>
          <a:p>
            <a:pPr algn="ctr"/>
            <a:r>
              <a:rPr sz="5200" b="1" i="0" dirty="0">
                <a:solidFill>
                  <a:srgbClr val="FFFFFF"/>
                </a:solidFill>
                <a:latin typeface="Calibri"/>
              </a:rPr>
              <a:t>Figure </a:t>
            </a:r>
            <a:r>
              <a:rPr lang="en-US" sz="5200" b="1" dirty="0">
                <a:solidFill>
                  <a:srgbClr val="FFFFFF"/>
                </a:solidFill>
                <a:latin typeface="Calibri"/>
              </a:rPr>
              <a:t>4-UC4: </a:t>
            </a:r>
            <a:r>
              <a:rPr lang="en-US" sz="2800" b="1" dirty="0">
                <a:solidFill>
                  <a:srgbClr val="FFFFFF"/>
                </a:solidFill>
                <a:latin typeface="Calibri"/>
              </a:rPr>
              <a:t>Airplane Entertainment System</a:t>
            </a:r>
            <a:endParaRPr sz="2800" b="1" i="0" dirty="0">
              <a:solidFill>
                <a:srgbClr val="FFFFFF"/>
              </a:solidFill>
              <a:latin typeface="Calibri"/>
            </a:endParaRPr>
          </a:p>
        </p:txBody>
      </p:sp>
      <p:sp>
        <p:nvSpPr>
          <p:cNvPr id="66" name="Rectangle 65">
            <a:extLst>
              <a:ext uri="{FF2B5EF4-FFF2-40B4-BE49-F238E27FC236}">
                <a16:creationId xmlns:a16="http://schemas.microsoft.com/office/drawing/2014/main" id="{AE52F026-3F85-0038-2128-F17AE5ADCB1F}"/>
              </a:ext>
            </a:extLst>
          </p:cNvPr>
          <p:cNvSpPr/>
          <p:nvPr/>
        </p:nvSpPr>
        <p:spPr>
          <a:xfrm>
            <a:off x="10457606" y="34171812"/>
            <a:ext cx="9360000" cy="8200187"/>
          </a:xfrm>
          <a:prstGeom prst="rect">
            <a:avLst/>
          </a:prstGeom>
          <a:solidFill>
            <a:srgbClr val="E5EEF7"/>
          </a:solidFill>
          <a:ln w="6350">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TextBox 67">
            <a:extLst>
              <a:ext uri="{FF2B5EF4-FFF2-40B4-BE49-F238E27FC236}">
                <a16:creationId xmlns:a16="http://schemas.microsoft.com/office/drawing/2014/main" id="{B40B46DD-1AA2-9681-0B62-AE019F4CFF8E}"/>
              </a:ext>
            </a:extLst>
          </p:cNvPr>
          <p:cNvSpPr txBox="1"/>
          <p:nvPr/>
        </p:nvSpPr>
        <p:spPr>
          <a:xfrm>
            <a:off x="10457606" y="41796000"/>
            <a:ext cx="9360000" cy="483960"/>
          </a:xfrm>
          <a:prstGeom prst="rect">
            <a:avLst/>
          </a:prstGeom>
          <a:noFill/>
        </p:spPr>
        <p:txBody>
          <a:bodyPr wrap="square" lIns="144000" tIns="72000" rIns="144000" bIns="72000" anchor="t">
            <a:spAutoFit/>
          </a:bodyPr>
          <a:lstStyle/>
          <a:p>
            <a:pPr algn="ctr"/>
            <a:r>
              <a:rPr sz="2200" b="0" i="1" dirty="0">
                <a:solidFill>
                  <a:srgbClr val="556688"/>
                </a:solidFill>
                <a:latin typeface="Calibri"/>
              </a:rPr>
              <a:t>Figure </a:t>
            </a:r>
            <a:r>
              <a:rPr lang="en-US" sz="2200" b="0" i="1" dirty="0">
                <a:solidFill>
                  <a:srgbClr val="556688"/>
                </a:solidFill>
                <a:latin typeface="Calibri"/>
              </a:rPr>
              <a:t>4</a:t>
            </a:r>
            <a:r>
              <a:rPr sz="2200" b="0" i="1" dirty="0">
                <a:solidFill>
                  <a:srgbClr val="556688"/>
                </a:solidFill>
                <a:latin typeface="Calibri"/>
              </a:rPr>
              <a:t>. </a:t>
            </a:r>
            <a:r>
              <a:rPr lang="en-US" b="0" i="1" dirty="0">
                <a:solidFill>
                  <a:srgbClr val="556688"/>
                </a:solidFill>
                <a:latin typeface="Calibri"/>
              </a:rPr>
              <a:t>In-Seat Entertainment Experience: aircraft telemetry, video, audio, spatial photos</a:t>
            </a:r>
            <a:r>
              <a:rPr lang="en-US" sz="2200" b="0" i="1" dirty="0">
                <a:solidFill>
                  <a:srgbClr val="556688"/>
                </a:solidFill>
                <a:latin typeface="Calibri"/>
              </a:rPr>
              <a:t> </a:t>
            </a:r>
            <a:endParaRPr sz="2200" b="0" i="1" dirty="0">
              <a:solidFill>
                <a:srgbClr val="556688"/>
              </a:solidFill>
              <a:latin typeface="Calibri"/>
            </a:endParaRPr>
          </a:p>
        </p:txBody>
      </p:sp>
      <p:sp>
        <p:nvSpPr>
          <p:cNvPr id="69" name="Rectangle 68">
            <a:extLst>
              <a:ext uri="{FF2B5EF4-FFF2-40B4-BE49-F238E27FC236}">
                <a16:creationId xmlns:a16="http://schemas.microsoft.com/office/drawing/2014/main" id="{D6B8380B-52CC-6845-0C25-0F3945973C59}"/>
              </a:ext>
            </a:extLst>
          </p:cNvPr>
          <p:cNvSpPr/>
          <p:nvPr/>
        </p:nvSpPr>
        <p:spPr>
          <a:xfrm>
            <a:off x="10817606" y="34637415"/>
            <a:ext cx="8640000" cy="7102072"/>
          </a:xfrm>
          <a:prstGeom prst="rect">
            <a:avLst/>
          </a:prstGeom>
          <a:solidFill>
            <a:srgbClr val="C2CFDE"/>
          </a:solidFill>
          <a:ln w="9525">
            <a:solidFill>
              <a:srgbClr val="6B8BB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01A95356-FD10-88FA-16D6-F76BD2D9F790}"/>
              </a:ext>
            </a:extLst>
          </p:cNvPr>
          <p:cNvSpPr txBox="1"/>
          <p:nvPr/>
        </p:nvSpPr>
        <p:spPr>
          <a:xfrm>
            <a:off x="10169606" y="32338020"/>
            <a:ext cx="9360000" cy="483960"/>
          </a:xfrm>
          <a:prstGeom prst="rect">
            <a:avLst/>
          </a:prstGeom>
          <a:noFill/>
        </p:spPr>
        <p:txBody>
          <a:bodyPr wrap="square" lIns="144000" tIns="72000" rIns="144000" bIns="72000" anchor="t">
            <a:spAutoFit/>
          </a:bodyPr>
          <a:lstStyle/>
          <a:p>
            <a:pPr algn="ctr"/>
            <a:r>
              <a:rPr sz="2200" b="0" i="1" dirty="0">
                <a:solidFill>
                  <a:schemeClr val="bg1"/>
                </a:solidFill>
                <a:latin typeface="Calibri"/>
              </a:rPr>
              <a:t>Figure </a:t>
            </a:r>
            <a:r>
              <a:rPr lang="en-US" sz="2200" b="0" i="1" dirty="0">
                <a:solidFill>
                  <a:schemeClr val="bg1"/>
                </a:solidFill>
                <a:latin typeface="Calibri"/>
              </a:rPr>
              <a:t>3</a:t>
            </a:r>
            <a:r>
              <a:rPr sz="2200" b="0" i="1" dirty="0">
                <a:solidFill>
                  <a:schemeClr val="bg1"/>
                </a:solidFill>
                <a:latin typeface="Calibri"/>
              </a:rPr>
              <a:t>. </a:t>
            </a:r>
            <a:r>
              <a:rPr lang="en-US" sz="2200" b="0" i="1" dirty="0">
                <a:solidFill>
                  <a:schemeClr val="bg1"/>
                </a:solidFill>
                <a:latin typeface="Calibri"/>
              </a:rPr>
              <a:t>A </a:t>
            </a:r>
            <a:r>
              <a:rPr lang="en-US" sz="2200" b="0" i="1" dirty="0" err="1">
                <a:solidFill>
                  <a:schemeClr val="bg1"/>
                </a:solidFill>
                <a:latin typeface="Calibri"/>
              </a:rPr>
              <a:t>UofO</a:t>
            </a:r>
            <a:r>
              <a:rPr lang="en-US" sz="2200" b="0" i="1" dirty="0">
                <a:solidFill>
                  <a:schemeClr val="bg1"/>
                </a:solidFill>
                <a:latin typeface="Calibri"/>
              </a:rPr>
              <a:t> Duck Tribute in XR</a:t>
            </a:r>
            <a:endParaRPr sz="2200" b="0" i="1" dirty="0">
              <a:solidFill>
                <a:schemeClr val="bg1"/>
              </a:solidFill>
              <a:latin typeface="Calibri"/>
            </a:endParaRPr>
          </a:p>
        </p:txBody>
      </p:sp>
      <p:pic>
        <p:nvPicPr>
          <p:cNvPr id="77" name="Picture 76" descr="A blue planet with yellow text&#10;&#10;Description automatically generated">
            <a:extLst>
              <a:ext uri="{FF2B5EF4-FFF2-40B4-BE49-F238E27FC236}">
                <a16:creationId xmlns:a16="http://schemas.microsoft.com/office/drawing/2014/main" id="{52542862-7C90-B7D2-25C8-D84B0CC836D3}"/>
              </a:ext>
            </a:extLst>
          </p:cNvPr>
          <p:cNvPicPr>
            <a:picLocks noChangeAspect="1"/>
          </p:cNvPicPr>
          <p:nvPr/>
        </p:nvPicPr>
        <p:blipFill>
          <a:blip r:embed="rId6"/>
          <a:stretch>
            <a:fillRect/>
          </a:stretch>
        </p:blipFill>
        <p:spPr>
          <a:xfrm>
            <a:off x="11289052" y="35819874"/>
            <a:ext cx="7772400" cy="5159347"/>
          </a:xfrm>
          <a:prstGeom prst="rect">
            <a:avLst/>
          </a:prstGeom>
        </p:spPr>
      </p:pic>
      <p:pic>
        <p:nvPicPr>
          <p:cNvPr id="79" name="Graphic 78">
            <a:extLst>
              <a:ext uri="{FF2B5EF4-FFF2-40B4-BE49-F238E27FC236}">
                <a16:creationId xmlns:a16="http://schemas.microsoft.com/office/drawing/2014/main" id="{1AFF12D6-3239-1AF8-3C36-E39301D5543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40883" y="38633691"/>
            <a:ext cx="2441117" cy="3503996"/>
          </a:xfrm>
          <a:prstGeom prst="rect">
            <a:avLst/>
          </a:prstGeom>
        </p:spPr>
      </p:pic>
      <p:pic>
        <p:nvPicPr>
          <p:cNvPr id="36" name="Picture 35">
            <a:extLst>
              <a:ext uri="{FF2B5EF4-FFF2-40B4-BE49-F238E27FC236}">
                <a16:creationId xmlns:a16="http://schemas.microsoft.com/office/drawing/2014/main" id="{B32EBF12-9A57-8FA6-0D38-74F2E95A1229}"/>
              </a:ext>
            </a:extLst>
          </p:cNvPr>
          <p:cNvPicPr>
            <a:picLocks noChangeAspect="1"/>
          </p:cNvPicPr>
          <p:nvPr/>
        </p:nvPicPr>
        <p:blipFill>
          <a:blip r:embed="rId9"/>
          <a:stretch>
            <a:fillRect/>
          </a:stretch>
        </p:blipFill>
        <p:spPr>
          <a:xfrm>
            <a:off x="70378" y="29165889"/>
            <a:ext cx="9790538" cy="1320611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991</Words>
  <Application>Microsoft Macintosh PowerPoint</Application>
  <PresentationFormat>Custom</PresentationFormat>
  <Paragraphs>68</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Hiragino Sans</vt:lpstr>
      <vt:lpstr>Aptos</vt:lpstr>
      <vt:lpstr>Arial</vt:lpstr>
      <vt:lpstr>Calibri</vt:lpstr>
      <vt:lpstr>Helvetica Neue</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David J. Kordsmeier</cp:lastModifiedBy>
  <cp:revision>15</cp:revision>
  <dcterms:created xsi:type="dcterms:W3CDTF">2013-01-27T09:14:16Z</dcterms:created>
  <dcterms:modified xsi:type="dcterms:W3CDTF">2026-05-27T18:01:01Z</dcterms:modified>
  <cp:category/>
</cp:coreProperties>
</file>